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0" i="0" u="none" strike="noStrike" kern="1200" baseline="0">
                <a:solidFill>
                  <a:srgbClr val="000000"/>
                </a:solidFill>
                <a:latin typeface="Arial" panose="020B0604020202020204"/>
                <a:ea typeface="+mn-ea"/>
                <a:cs typeface="+mn-cs"/>
              </a:defRPr>
            </a:pPr>
            <a:r>
              <a:rPr sz="1800" b="0" i="0" u="none" strike="noStrike">
                <a:solidFill>
                  <a:srgbClr val="000000"/>
                </a:solidFill>
                <a:latin typeface="Arial" panose="020B0604020202020204"/>
              </a:rPr>
              <a:t>Breach Rate % by Airport Code</a:t>
            </a:r>
            <a:endParaRPr sz="1800" b="0" i="0" u="none" strike="noStrike">
              <a:solidFill>
                <a:srgbClr val="000000"/>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Breach Rate %</c:v>
                </c:pt>
              </c:strCache>
            </c:strRef>
          </c:tx>
          <c:spPr>
            <a:solidFill>
              <a:srgbClr val="1E6091"/>
            </a:solidFill>
            <a:effectLst/>
          </c:spPr>
          <c:invertIfNegative val="0"/>
          <c:dLbls>
            <c:dLbl>
              <c:idx val="0"/>
              <c:delete val="1"/>
            </c:dLbl>
            <c:dLbl>
              <c:idx val="1"/>
              <c:delete val="1"/>
            </c:dLbl>
            <c:dLbl>
              <c:idx val="2"/>
              <c:delete val="1"/>
            </c:dLbl>
            <c:dLbl>
              <c:idx val="3"/>
              <c:delete val="1"/>
            </c:dLbl>
            <c:dLbl>
              <c:idx val="4"/>
              <c:delete val="1"/>
            </c:dLbl>
            <c:dLbl>
              <c:idx val="5"/>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E293B"/>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CDG</c:v>
                </c:pt>
                <c:pt idx="1">
                  <c:v>DXB</c:v>
                </c:pt>
                <c:pt idx="2">
                  <c:v>FRA</c:v>
                </c:pt>
                <c:pt idx="3">
                  <c:v>HKG</c:v>
                </c:pt>
                <c:pt idx="4">
                  <c:v>JFK</c:v>
                </c:pt>
                <c:pt idx="5">
                  <c:v>LHR</c:v>
                </c:pt>
              </c:strCache>
            </c:strRef>
          </c:cat>
          <c:val>
            <c:numRef>
              <c:f>Sheet1!$B$2:$B$7</c:f>
              <c:numCache>
                <c:formatCode>General</c:formatCode>
                <c:ptCount val="6"/>
                <c:pt idx="0">
                  <c:v>12.5</c:v>
                </c:pt>
                <c:pt idx="1">
                  <c:v>18.3</c:v>
                </c:pt>
                <c:pt idx="2">
                  <c:v>9.7</c:v>
                </c:pt>
                <c:pt idx="3">
                  <c:v>14.2</c:v>
                </c:pt>
                <c:pt idx="4">
                  <c:v>11.8</c:v>
                </c:pt>
                <c:pt idx="5">
                  <c:v>16.1</c:v>
                </c:pt>
              </c:numCache>
            </c:numRef>
          </c:val>
        </c:ser>
        <c:ser>
          <c:idx val="1"/>
          <c:order val="1"/>
          <c:tx>
            <c:strRef>
              <c:f>Sheet1!$C$1</c:f>
              <c:strCache>
                <c:ptCount val="1"/>
                <c:pt idx="0">
                  <c:v>High Severity</c:v>
                </c:pt>
              </c:strCache>
            </c:strRef>
          </c:tx>
          <c:spPr>
            <a:solidFill>
              <a:srgbClr val="C62828"/>
            </a:solidFill>
            <a:effectLst/>
          </c:spPr>
          <c:invertIfNegative val="0"/>
          <c:dLbls>
            <c:dLbl>
              <c:idx val="0"/>
              <c:delete val="1"/>
            </c:dLbl>
            <c:dLbl>
              <c:idx val="1"/>
              <c:delete val="1"/>
            </c:dLbl>
            <c:dLbl>
              <c:idx val="2"/>
              <c:delete val="1"/>
            </c:dLbl>
            <c:dLbl>
              <c:idx val="3"/>
              <c:delete val="1"/>
            </c:dLbl>
            <c:dLbl>
              <c:idx val="4"/>
              <c:delete val="1"/>
            </c:dLbl>
            <c:dLbl>
              <c:idx val="5"/>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E293B"/>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CDG</c:v>
                </c:pt>
                <c:pt idx="1">
                  <c:v>DXB</c:v>
                </c:pt>
                <c:pt idx="2">
                  <c:v>FRA</c:v>
                </c:pt>
                <c:pt idx="3">
                  <c:v>HKG</c:v>
                </c:pt>
                <c:pt idx="4">
                  <c:v>JFK</c:v>
                </c:pt>
                <c:pt idx="5">
                  <c:v>LHR</c:v>
                </c:pt>
              </c:strCache>
            </c:strRef>
          </c:cat>
          <c:val>
            <c:numRef>
              <c:f>Sheet1!$C$2:$C$7</c:f>
              <c:numCache>
                <c:formatCode>General</c:formatCode>
                <c:ptCount val="6"/>
                <c:pt idx="0">
                  <c:v>3.2</c:v>
                </c:pt>
                <c:pt idx="1">
                  <c:v>5.1</c:v>
                </c:pt>
                <c:pt idx="2">
                  <c:v>2.4</c:v>
                </c:pt>
                <c:pt idx="3">
                  <c:v>4</c:v>
                </c:pt>
                <c:pt idx="4">
                  <c:v>3.8</c:v>
                </c:pt>
                <c:pt idx="5">
                  <c:v>4.5</c:v>
                </c:pt>
              </c:numCache>
            </c:numRef>
          </c:val>
        </c:ser>
        <c:dLbls>
          <c:showLegendKey val="0"/>
          <c:showVal val="0"/>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e489decd-2c71-4524-8651-2107d8302433}"/>
      </c:ext>
    </c:extLst>
  </c:chart>
  <c:spPr>
    <a:solidFill>
      <a:srgbClr val="FFFFFF"/>
    </a:solid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0" i="0" u="none" strike="noStrike" kern="1200" baseline="0">
                <a:solidFill>
                  <a:srgbClr val="000000"/>
                </a:solidFill>
                <a:latin typeface="Arial" panose="020B0604020202020204"/>
                <a:ea typeface="+mn-ea"/>
                <a:cs typeface="+mn-cs"/>
              </a:defRPr>
            </a:pPr>
            <a:r>
              <a:rPr sz="1800" b="0" i="0" u="none" strike="noStrike">
                <a:solidFill>
                  <a:srgbClr val="000000"/>
                </a:solidFill>
                <a:latin typeface="Arial" panose="020B0604020202020204"/>
              </a:rPr>
              <a:t>Breach Resolution Status</a:t>
            </a:r>
            <a:endParaRPr sz="1800" b="0" i="0" u="none" strike="noStrike">
              <a:solidFill>
                <a:srgbClr val="000000"/>
              </a:solidFill>
              <a:latin typeface="Arial" panose="020B0604020202020204"/>
            </a:endParaRPr>
          </a:p>
        </c:rich>
      </c:tx>
      <c:layout/>
      <c:overlay val="0"/>
    </c:title>
    <c:autoTitleDeleted val="0"/>
    <c:plotArea>
      <c:layout/>
      <c:doughnutChart>
        <c:varyColors val="1"/>
        <c:ser>
          <c:idx val="0"/>
          <c:order val="0"/>
          <c:tx>
            <c:strRef>
              <c:f>Sheet1!$B$1</c:f>
              <c:strCache>
                <c:ptCount val="1"/>
                <c:pt idx="0">
                  <c:v>Resolution</c:v>
                </c:pt>
              </c:strCache>
            </c:strRef>
          </c:tx>
          <c:spPr>
            <a:solidFill>
              <a:schemeClr val="accent1"/>
            </a:solidFill>
            <a:ln w="9525" cap="flat">
              <a:solidFill>
                <a:srgbClr val="F9F9F9"/>
              </a:solidFill>
              <a:prstDash val="solid"/>
              <a:round/>
            </a:ln>
            <a:effectLst/>
          </c:spPr>
          <c:explosion val="0"/>
          <c:dPt>
            <c:idx val="0"/>
            <c:bubble3D val="0"/>
            <c:spPr>
              <a:solidFill>
                <a:srgbClr val="1E6091"/>
              </a:solidFill>
              <a:effectLst/>
            </c:spPr>
          </c:dPt>
          <c:dPt>
            <c:idx val="1"/>
            <c:bubble3D val="0"/>
            <c:spPr>
              <a:solidFill>
                <a:srgbClr val="E53935"/>
              </a:solidFill>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Resolved</c:v>
                </c:pt>
                <c:pt idx="1">
                  <c:v>Unresolved</c:v>
                </c:pt>
              </c:strCache>
            </c:strRef>
          </c:cat>
          <c:val>
            <c:numRef>
              <c:f>Sheet1!$B$2:$B$3</c:f>
              <c:numCache>
                <c:formatCode>General</c:formatCode>
                <c:ptCount val="2"/>
                <c:pt idx="0">
                  <c:v>165</c:v>
                </c:pt>
                <c:pt idx="1">
                  <c:v>38</c:v>
                </c:pt>
              </c:numCache>
            </c:numRef>
          </c:val>
        </c:ser>
        <c:dLbls>
          <c:showLegendKey val="0"/>
          <c:showVal val="0"/>
          <c:showCatName val="1"/>
          <c:showSerName val="0"/>
          <c:showPercent val="1"/>
          <c:showBubbleSize val="0"/>
          <c:showLeaderLines val="1"/>
        </c:dLbls>
        <c:firstSliceAng val="0"/>
        <c:holeSize val="50"/>
      </c:doughnutChart>
      <c:spPr>
        <a:noFill/>
        <a:ln>
          <a:noFill/>
        </a:ln>
        <a:effectLst/>
      </c:spPr>
    </c:plotArea>
    <c:legend>
      <c:legendPos val="b"/>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784494fe-cf68-4ae1-a90f-e29443b5d541}"/>
      </c:ext>
    </c:extLst>
  </c:chart>
  <c:spPr>
    <a:solidFill>
      <a:srgbClr val="FFFFFF"/>
    </a:solid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the Airline Security System, prepared by Memoona and Uzaima from the Software Engineering Department at Minhaj University. We will explore airport security components, technologies, and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Airline security is a critical global system that protects millions of passengers daily. The ICAO sets global standards, and countries implement them through various agencies. The system has evolved significantly since the 9/11 attacks in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Airline security is critical for multiple reasons: it protects passengers, maintains national security, and ensures economic stability of the aviation sector. Without proper security measures, the entire system would be vulnerable to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airline security system comprises six major components. Each works in concert: Access Control prevents unauthorized personnel, Passenger Screening catches threats at the checkpoint, Baggage Screening detects concealed weapons or explosives, ATC monitors skies, Cargo Security covers freight, and Cybersecurity protects digital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passenger screening process follows a strict 5-step protocol. Every passenger must undergo document verification, followed by removing belongings, passing through metal detectors, body scanning, and manual checks when necessary. This multi-layered approach minimizes the chance of threats passing undetected.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Baggage screening is one of the most critical checkpoints. Modern airports use CT scanners that create 3D images, far more accurate than traditional 2D X-rays. Explosive Trace Detection and Automated Threat Detection systems have dramatically improved detection rates to near 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airport security has been revolutionized by four core technologies: Biometrics enable seamless but secure identity verification; Facial Recognition provides real-time threat identification; AI analyzes behavioral patterns and predicts threats; CCTV with intelligent analytics ensures comprehensive surveillance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actual dashboard data: Total security expenditure is $52M. Of 203 recorded incidents, 165 (81.28%) were resolved and 38 remain pending. DXB (Dubai) and LHR (London Heathrow) show the highest breach rates, indicating heavier traffic and more complex threat environments. November shows the highest monthly breach count at 67.48%.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major challenges facing airline security today: Terrorism remains the primary threat driver; Cybersecurity is increasingly targeted as systems digitize; Smuggling exploits cargo complexity; Insider threats are statistically significant (accounting for 30% of security incidents); and Drone intrusions represent a newer, emerging threat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airline security is digital, biometric, and AI-driven. By 2030, we expect fully frictionless airports where passengers are identified from a distance, threats detected before they reach checkpoints, and quantum encryption protecting all communications. Investment is heavily focused on AI and biometrics.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airline security is one of the most complex and critical systems in modern infrastructure. Technology is rapidly evolving to meet new threats, but human expertise remains irreplaceable. Our dashboard analysis confirms that while most incidents are resolved, continuous improvement is essential. Thank you for your attention — we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p:spPr>
      </p:sp>
      <p:sp>
        <p:nvSpPr>
          <p:cNvPr id="3" name="Shape 1"/>
          <p:cNvSpPr/>
          <p:nvPr/>
        </p:nvSpPr>
        <p:spPr>
          <a:xfrm>
            <a:off x="0" y="0"/>
            <a:ext cx="109728" cy="5143500"/>
          </a:xfrm>
          <a:prstGeom prst="rect">
            <a:avLst/>
          </a:prstGeom>
          <a:solidFill>
            <a:srgbClr val="2196F3"/>
          </a:solidFill>
        </p:spPr>
      </p:sp>
      <p:sp>
        <p:nvSpPr>
          <p:cNvPr id="4" name="Shape 2"/>
          <p:cNvSpPr/>
          <p:nvPr/>
        </p:nvSpPr>
        <p:spPr>
          <a:xfrm>
            <a:off x="5029200" y="0"/>
            <a:ext cx="4114800" cy="5143500"/>
          </a:xfrm>
          <a:prstGeom prst="rect">
            <a:avLst/>
          </a:prstGeom>
          <a:solidFill>
            <a:srgbClr val="1A3C5E"/>
          </a:solidFill>
        </p:spPr>
      </p:sp>
      <p:pic>
        <p:nvPicPr>
          <p:cNvPr id="5" name="Image 0" descr="https://images.unsplash.com/photo-1436491865332-7a61a109cc05?w=800&amp;q=80"/>
          <p:cNvPicPr>
            <a:picLocks noChangeAspect="1"/>
          </p:cNvPicPr>
          <p:nvPr/>
        </p:nvPicPr>
        <p:blipFill>
          <a:blip r:embed="rId1"/>
          <a:srcRect/>
          <a:stretch>
            <a:fillRect/>
          </a:stretch>
        </p:blipFill>
        <p:spPr>
          <a:xfrm>
            <a:off x="5029200" y="0"/>
            <a:ext cx="4114800" cy="5143500"/>
          </a:xfrm>
          <a:prstGeom prst="rect">
            <a:avLst/>
          </a:prstGeom>
        </p:spPr>
      </p:pic>
      <p:sp>
        <p:nvSpPr>
          <p:cNvPr id="6" name="Shape 3"/>
          <p:cNvSpPr/>
          <p:nvPr/>
        </p:nvSpPr>
        <p:spPr>
          <a:xfrm>
            <a:off x="5029200" y="0"/>
            <a:ext cx="4114800" cy="5143500"/>
          </a:xfrm>
          <a:prstGeom prst="rect">
            <a:avLst/>
          </a:prstGeom>
          <a:solidFill>
            <a:srgbClr val="0D1B2A">
              <a:alpha val="60000"/>
            </a:srgbClr>
          </a:solidFill>
        </p:spPr>
      </p:sp>
      <p:sp>
        <p:nvSpPr>
          <p:cNvPr id="7" name="Shape 4"/>
          <p:cNvSpPr/>
          <p:nvPr/>
        </p:nvSpPr>
        <p:spPr>
          <a:xfrm>
            <a:off x="274320" y="274320"/>
            <a:ext cx="548640" cy="548640"/>
          </a:xfrm>
          <a:prstGeom prst="ellipse">
            <a:avLst/>
          </a:prstGeom>
          <a:solidFill>
            <a:srgbClr val="2196F3"/>
          </a:solidFill>
        </p:spPr>
      </p:sp>
      <p:sp>
        <p:nvSpPr>
          <p:cNvPr id="8" name="Text 5"/>
          <p:cNvSpPr/>
          <p:nvPr/>
        </p:nvSpPr>
        <p:spPr>
          <a:xfrm>
            <a:off x="1027430" y="228600"/>
            <a:ext cx="4572000" cy="274320"/>
          </a:xfrm>
          <a:prstGeom prst="rect">
            <a:avLst/>
          </a:prstGeom>
          <a:noFill/>
        </p:spPr>
        <p:txBody>
          <a:bodyPr wrap="square" lIns="0" tIns="0" rIns="0" bIns="0" rtlCol="0" anchor="ctr"/>
          <a:lstStyle/>
          <a:p>
            <a:pPr marL="0" indent="0">
              <a:buNone/>
            </a:pPr>
            <a:r>
              <a:rPr lang="en-US" sz="1000" dirty="0"/>
              <a:t>u</a:t>
            </a:r>
            <a:r>
              <a:rPr lang="en-US" sz="1000" dirty="0">
                <a:solidFill>
                  <a:schemeClr val="bg1"/>
                </a:solidFill>
              </a:rPr>
              <a:t>UNIVERSITY IF MIANWALI</a:t>
            </a:r>
            <a:endParaRPr lang="en-US" sz="1000" dirty="0">
              <a:solidFill>
                <a:schemeClr val="bg1"/>
              </a:solidFill>
            </a:endParaRPr>
          </a:p>
        </p:txBody>
      </p:sp>
      <p:sp>
        <p:nvSpPr>
          <p:cNvPr id="9" name="Text 6"/>
          <p:cNvSpPr/>
          <p:nvPr/>
        </p:nvSpPr>
        <p:spPr>
          <a:xfrm>
            <a:off x="1005840" y="502920"/>
            <a:ext cx="5486400" cy="228600"/>
          </a:xfrm>
          <a:prstGeom prst="rect">
            <a:avLst/>
          </a:prstGeom>
          <a:noFill/>
        </p:spPr>
        <p:txBody>
          <a:bodyPr wrap="square" lIns="0" tIns="0" rIns="0" bIns="0" rtlCol="0" anchor="ctr"/>
          <a:lstStyle/>
          <a:p>
            <a:pPr marL="0" indent="0">
              <a:buNone/>
            </a:pPr>
            <a:r>
              <a:rPr lang="en-US" sz="900" i="1" dirty="0">
                <a:solidFill>
                  <a:srgbClr val="8899AA"/>
                </a:solidFill>
              </a:rPr>
              <a:t>Department of Software Engineering</a:t>
            </a:r>
            <a:endParaRPr lang="en-US" sz="900" dirty="0"/>
          </a:p>
        </p:txBody>
      </p:sp>
      <p:sp>
        <p:nvSpPr>
          <p:cNvPr id="10" name="Text 7"/>
          <p:cNvSpPr/>
          <p:nvPr/>
        </p:nvSpPr>
        <p:spPr>
          <a:xfrm>
            <a:off x="365760" y="1188720"/>
            <a:ext cx="4572000" cy="731520"/>
          </a:xfrm>
          <a:prstGeom prst="rect">
            <a:avLst/>
          </a:prstGeom>
          <a:noFill/>
        </p:spPr>
        <p:txBody>
          <a:bodyPr wrap="square" lIns="0" tIns="0" rIns="0" bIns="0" rtlCol="0" anchor="ctr"/>
          <a:lstStyle/>
          <a:p>
            <a:pPr marL="0" indent="0">
              <a:buNone/>
            </a:pPr>
            <a:r>
              <a:rPr lang="en-US" sz="5200" b="1" dirty="0">
                <a:solidFill>
                  <a:srgbClr val="FFFFFF"/>
                </a:solidFill>
              </a:rPr>
              <a:t>AIRLINE</a:t>
            </a:r>
            <a:endParaRPr lang="en-US" sz="5200" dirty="0"/>
          </a:p>
        </p:txBody>
      </p:sp>
      <p:sp>
        <p:nvSpPr>
          <p:cNvPr id="11" name="Text 8"/>
          <p:cNvSpPr/>
          <p:nvPr/>
        </p:nvSpPr>
        <p:spPr>
          <a:xfrm>
            <a:off x="365760" y="1874520"/>
            <a:ext cx="4572000" cy="731520"/>
          </a:xfrm>
          <a:prstGeom prst="rect">
            <a:avLst/>
          </a:prstGeom>
          <a:noFill/>
        </p:spPr>
        <p:txBody>
          <a:bodyPr wrap="square" lIns="0" tIns="0" rIns="0" bIns="0" rtlCol="0" anchor="ctr"/>
          <a:lstStyle/>
          <a:p>
            <a:pPr marL="0" indent="0">
              <a:buNone/>
            </a:pPr>
            <a:r>
              <a:rPr lang="en-US" sz="5200" b="1" dirty="0">
                <a:solidFill>
                  <a:srgbClr val="2196F3"/>
                </a:solidFill>
              </a:rPr>
              <a:t>SECURITY</a:t>
            </a:r>
            <a:endParaRPr lang="en-US" sz="5200" dirty="0"/>
          </a:p>
        </p:txBody>
      </p:sp>
      <p:sp>
        <p:nvSpPr>
          <p:cNvPr id="12" name="Text 9"/>
          <p:cNvSpPr/>
          <p:nvPr/>
        </p:nvSpPr>
        <p:spPr>
          <a:xfrm>
            <a:off x="365760" y="2560320"/>
            <a:ext cx="4572000" cy="731520"/>
          </a:xfrm>
          <a:prstGeom prst="rect">
            <a:avLst/>
          </a:prstGeom>
          <a:noFill/>
        </p:spPr>
        <p:txBody>
          <a:bodyPr wrap="square" lIns="0" tIns="0" rIns="0" bIns="0" rtlCol="0" anchor="ctr"/>
          <a:lstStyle/>
          <a:p>
            <a:pPr marL="0" indent="0">
              <a:buNone/>
            </a:pPr>
            <a:r>
              <a:rPr lang="en-US" sz="5200" b="1" dirty="0">
                <a:solidFill>
                  <a:srgbClr val="FFFFFF"/>
                </a:solidFill>
              </a:rPr>
              <a:t>SYSTEM</a:t>
            </a:r>
            <a:endParaRPr lang="en-US" sz="5200" dirty="0"/>
          </a:p>
        </p:txBody>
      </p:sp>
      <p:sp>
        <p:nvSpPr>
          <p:cNvPr id="13" name="Text 10"/>
          <p:cNvSpPr/>
          <p:nvPr/>
        </p:nvSpPr>
        <p:spPr>
          <a:xfrm>
            <a:off x="365760" y="3429000"/>
            <a:ext cx="5029200" cy="365760"/>
          </a:xfrm>
          <a:prstGeom prst="rect">
            <a:avLst/>
          </a:prstGeom>
          <a:noFill/>
        </p:spPr>
        <p:txBody>
          <a:bodyPr wrap="square" lIns="0" tIns="0" rIns="0" bIns="0" rtlCol="0" anchor="ctr"/>
          <a:lstStyle/>
          <a:p>
            <a:pPr marL="0" indent="0">
              <a:buNone/>
            </a:pPr>
            <a:r>
              <a:rPr lang="en-US" sz="1300" i="1" dirty="0">
                <a:solidFill>
                  <a:srgbClr val="BBDEFB"/>
                </a:solidFill>
              </a:rPr>
              <a:t>A Comprehensive Analysis of Modern Airport Security</a:t>
            </a:r>
            <a:endParaRPr lang="en-US" sz="1300" dirty="0"/>
          </a:p>
        </p:txBody>
      </p:sp>
      <p:sp>
        <p:nvSpPr>
          <p:cNvPr id="14" name="Shape 11"/>
          <p:cNvSpPr/>
          <p:nvPr/>
        </p:nvSpPr>
        <p:spPr>
          <a:xfrm>
            <a:off x="365760" y="3886200"/>
            <a:ext cx="4114800" cy="27432"/>
          </a:xfrm>
          <a:prstGeom prst="rect">
            <a:avLst/>
          </a:prstGeom>
          <a:solidFill>
            <a:srgbClr val="2196F3"/>
          </a:solidFill>
        </p:spPr>
      </p:sp>
      <p:sp>
        <p:nvSpPr>
          <p:cNvPr id="15" name="Text 12"/>
          <p:cNvSpPr/>
          <p:nvPr/>
        </p:nvSpPr>
        <p:spPr>
          <a:xfrm>
            <a:off x="365760" y="3977640"/>
            <a:ext cx="4572000" cy="274320"/>
          </a:xfrm>
          <a:prstGeom prst="rect">
            <a:avLst/>
          </a:prstGeom>
          <a:noFill/>
        </p:spPr>
        <p:txBody>
          <a:bodyPr wrap="square" lIns="0" tIns="0" rIns="0" bIns="0" rtlCol="0" anchor="ctr"/>
          <a:lstStyle/>
          <a:p>
            <a:pPr marL="0" indent="0">
              <a:buNone/>
            </a:pPr>
            <a:r>
              <a:rPr lang="en-US" sz="1100" dirty="0">
                <a:solidFill>
                  <a:srgbClr val="8899AA"/>
                </a:solidFill>
              </a:rPr>
              <a:t>Presented by: </a:t>
            </a:r>
            <a:r>
              <a:rPr lang="en-US" sz="1100" b="1" dirty="0">
                <a:solidFill>
                  <a:srgbClr val="FFFFFF"/>
                </a:solidFill>
              </a:rPr>
              <a:t>Memoona  &amp;  Uzaima</a:t>
            </a:r>
            <a:endParaRPr lang="en-US" sz="1100" dirty="0"/>
          </a:p>
        </p:txBody>
      </p:sp>
      <p:sp>
        <p:nvSpPr>
          <p:cNvPr id="16" name="Text 13"/>
          <p:cNvSpPr/>
          <p:nvPr/>
        </p:nvSpPr>
        <p:spPr>
          <a:xfrm>
            <a:off x="365760" y="4297680"/>
            <a:ext cx="1828800" cy="228600"/>
          </a:xfrm>
          <a:prstGeom prst="rect">
            <a:avLst/>
          </a:prstGeom>
          <a:noFill/>
        </p:spPr>
        <p:txBody>
          <a:bodyPr wrap="square" lIns="0" tIns="0" rIns="0" bIns="0" rtlCol="0" anchor="ctr"/>
          <a:lstStyle/>
          <a:p>
            <a:pPr marL="0" indent="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C5E"/>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INTRODUCTION TO AIRLINE SECURITY</a:t>
            </a:r>
            <a:endParaRPr lang="en-US" sz="2200" dirty="0"/>
          </a:p>
        </p:txBody>
      </p:sp>
      <p:pic>
        <p:nvPicPr>
          <p:cNvPr id="5" name="Image 0" descr="https://images.unsplash.com/photo-1540962351504-03099e0a754b?w=700&amp;q=80"/>
          <p:cNvPicPr>
            <a:picLocks noChangeAspect="1"/>
          </p:cNvPicPr>
          <p:nvPr/>
        </p:nvPicPr>
        <p:blipFill>
          <a:blip r:embed="rId1"/>
          <a:srcRect/>
          <a:stretch>
            <a:fillRect/>
          </a:stretch>
        </p:blipFill>
        <p:spPr>
          <a:xfrm>
            <a:off x="5303520" y="822960"/>
            <a:ext cx="3474720" cy="3840480"/>
          </a:xfrm>
          <a:prstGeom prst="rect">
            <a:avLst/>
          </a:prstGeom>
        </p:spPr>
      </p:pic>
      <p:sp>
        <p:nvSpPr>
          <p:cNvPr id="6" name="Shape 3"/>
          <p:cNvSpPr/>
          <p:nvPr/>
        </p:nvSpPr>
        <p:spPr>
          <a:xfrm>
            <a:off x="5303520" y="822960"/>
            <a:ext cx="73152" cy="3840480"/>
          </a:xfrm>
          <a:prstGeom prst="rect">
            <a:avLst/>
          </a:prstGeom>
          <a:solidFill>
            <a:srgbClr val="2196F3"/>
          </a:solidFill>
        </p:spPr>
      </p:sp>
      <p:sp>
        <p:nvSpPr>
          <p:cNvPr id="7" name="Text 4"/>
          <p:cNvSpPr/>
          <p:nvPr/>
        </p:nvSpPr>
        <p:spPr>
          <a:xfrm>
            <a:off x="365760" y="914400"/>
            <a:ext cx="4663440" cy="365760"/>
          </a:xfrm>
          <a:prstGeom prst="rect">
            <a:avLst/>
          </a:prstGeom>
          <a:noFill/>
        </p:spPr>
        <p:txBody>
          <a:bodyPr wrap="square" lIns="0" tIns="0" rIns="0" bIns="0" rtlCol="0" anchor="ctr"/>
          <a:lstStyle/>
          <a:p>
            <a:pPr marL="0" indent="0">
              <a:buNone/>
            </a:pPr>
            <a:r>
              <a:rPr lang="en-US" sz="1800" b="1" dirty="0">
                <a:solidFill>
                  <a:srgbClr val="1A3C5E"/>
                </a:solidFill>
              </a:rPr>
              <a:t>What is Airline Security?</a:t>
            </a:r>
            <a:endParaRPr lang="en-US" sz="1800" dirty="0"/>
          </a:p>
        </p:txBody>
      </p:sp>
      <p:sp>
        <p:nvSpPr>
          <p:cNvPr id="8" name="Text 5"/>
          <p:cNvSpPr/>
          <p:nvPr/>
        </p:nvSpPr>
        <p:spPr>
          <a:xfrm>
            <a:off x="365760" y="1371600"/>
            <a:ext cx="4663440" cy="640080"/>
          </a:xfrm>
          <a:prstGeom prst="rect">
            <a:avLst/>
          </a:prstGeom>
          <a:noFill/>
        </p:spPr>
        <p:txBody>
          <a:bodyPr wrap="square" lIns="0" tIns="0" rIns="0" bIns="0" rtlCol="0" anchor="ctr"/>
          <a:lstStyle/>
          <a:p>
            <a:pPr marL="0" indent="0">
              <a:buNone/>
            </a:pPr>
            <a:r>
              <a:rPr lang="en-US" sz="1200" dirty="0">
                <a:solidFill>
                  <a:srgbClr val="2D3748"/>
                </a:solidFill>
              </a:rPr>
              <a:t>Airline security refers to the techniques and methods used in protecting civil aviation against acts of unlawful interference, terrorism, and other threats.</a:t>
            </a:r>
            <a:endParaRPr lang="en-US" sz="1200" dirty="0"/>
          </a:p>
        </p:txBody>
      </p:sp>
      <p:sp>
        <p:nvSpPr>
          <p:cNvPr id="9" name="Text 6"/>
          <p:cNvSpPr/>
          <p:nvPr/>
        </p:nvSpPr>
        <p:spPr>
          <a:xfrm>
            <a:off x="365760" y="2103120"/>
            <a:ext cx="4663440" cy="2560320"/>
          </a:xfrm>
          <a:prstGeom prst="rect">
            <a:avLst/>
          </a:prstGeom>
          <a:noFill/>
        </p:spPr>
        <p:txBody>
          <a:bodyPr wrap="square" rtlCol="0" anchor="ctr"/>
          <a:lstStyle/>
          <a:p>
            <a:pPr marL="342900" indent="-342900">
              <a:buSzPct val="100000"/>
              <a:buChar char="•"/>
            </a:pPr>
            <a:r>
              <a:rPr lang="en-US" sz="1200" dirty="0">
                <a:solidFill>
                  <a:srgbClr val="2D3748"/>
                </a:solidFill>
              </a:rPr>
              <a:t>Ensures safety of passengers, crew &amp; aircraft</a:t>
            </a:r>
            <a:endParaRPr lang="en-US" sz="1200" dirty="0"/>
          </a:p>
          <a:p>
            <a:pPr marL="342900" indent="-342900">
              <a:buSzPct val="100000"/>
              <a:buChar char="•"/>
            </a:pPr>
            <a:r>
              <a:rPr lang="en-US" sz="1200" dirty="0">
                <a:solidFill>
                  <a:srgbClr val="2D3748"/>
                </a:solidFill>
              </a:rPr>
              <a:t>Regulated by ICAO (International Civil Aviation Organization)</a:t>
            </a:r>
            <a:endParaRPr lang="en-US" sz="1200" dirty="0"/>
          </a:p>
          <a:p>
            <a:pPr marL="342900" indent="-342900">
              <a:buSzPct val="100000"/>
              <a:buChar char="•"/>
            </a:pPr>
            <a:r>
              <a:rPr lang="en-US" sz="1200" dirty="0">
                <a:solidFill>
                  <a:srgbClr val="2D3748"/>
                </a:solidFill>
              </a:rPr>
              <a:t>Implemented through multi-layered security protocols</a:t>
            </a:r>
            <a:endParaRPr lang="en-US" sz="1200" dirty="0"/>
          </a:p>
          <a:p>
            <a:pPr marL="342900" indent="-342900">
              <a:buSzPct val="100000"/>
              <a:buChar char="•"/>
            </a:pPr>
            <a:r>
              <a:rPr lang="en-US" sz="1200" dirty="0">
                <a:solidFill>
                  <a:srgbClr val="2D3748"/>
                </a:solidFill>
              </a:rPr>
              <a:t>Combines physical, digital &amp; human intelligence</a:t>
            </a:r>
            <a:endParaRPr lang="en-US" sz="1200" dirty="0"/>
          </a:p>
          <a:p>
            <a:pPr marL="342900" indent="-342900">
              <a:buSzPct val="100000"/>
              <a:buChar char="•"/>
            </a:pPr>
            <a:r>
              <a:rPr lang="en-US" sz="1200" dirty="0">
                <a:solidFill>
                  <a:srgbClr val="2D3748"/>
                </a:solidFill>
              </a:rPr>
              <a:t>Evolving to counter modern threats &amp; cyberattacks</a:t>
            </a:r>
            <a:endParaRPr lang="en-US" sz="1200" dirty="0"/>
          </a:p>
        </p:txBody>
      </p:sp>
      <p:sp>
        <p:nvSpPr>
          <p:cNvPr id="10" name="Shape 7"/>
          <p:cNvSpPr/>
          <p:nvPr/>
        </p:nvSpPr>
        <p:spPr>
          <a:xfrm>
            <a:off x="0" y="4709160"/>
            <a:ext cx="9144000" cy="429768"/>
          </a:xfrm>
          <a:prstGeom prst="rect">
            <a:avLst/>
          </a:prstGeom>
          <a:solidFill>
            <a:srgbClr val="1A3C5E"/>
          </a:solidFill>
        </p:spPr>
      </p:sp>
      <p:sp>
        <p:nvSpPr>
          <p:cNvPr id="11" name="Text 8"/>
          <p:cNvSpPr/>
          <p:nvPr/>
        </p:nvSpPr>
        <p:spPr>
          <a:xfrm>
            <a:off x="914400" y="4736592"/>
            <a:ext cx="1371600" cy="201168"/>
          </a:xfrm>
          <a:prstGeom prst="rect">
            <a:avLst/>
          </a:prstGeom>
          <a:noFill/>
        </p:spPr>
        <p:txBody>
          <a:bodyPr wrap="square" lIns="0" tIns="0" rIns="0" bIns="0" rtlCol="0" anchor="ctr"/>
          <a:lstStyle/>
          <a:p>
            <a:pPr marL="0" indent="0">
              <a:buNone/>
            </a:pPr>
            <a:r>
              <a:rPr lang="en-US" sz="1400" b="1" dirty="0">
                <a:solidFill>
                  <a:srgbClr val="2196F3"/>
                </a:solidFill>
              </a:rPr>
              <a:t>4.5B+</a:t>
            </a:r>
            <a:endParaRPr lang="en-US" sz="1400" dirty="0"/>
          </a:p>
        </p:txBody>
      </p:sp>
      <p:sp>
        <p:nvSpPr>
          <p:cNvPr id="12" name="Text 9"/>
          <p:cNvSpPr/>
          <p:nvPr/>
        </p:nvSpPr>
        <p:spPr>
          <a:xfrm>
            <a:off x="2331720" y="4736592"/>
            <a:ext cx="1371600" cy="201168"/>
          </a:xfrm>
          <a:prstGeom prst="rect">
            <a:avLst/>
          </a:prstGeom>
          <a:noFill/>
        </p:spPr>
        <p:txBody>
          <a:bodyPr wrap="square" lIns="0" tIns="0" rIns="0" bIns="0" rtlCol="0" anchor="ctr"/>
          <a:lstStyle/>
          <a:p>
            <a:pPr marL="0" indent="0">
              <a:buNone/>
            </a:pPr>
            <a:r>
              <a:rPr lang="en-US" sz="1000" dirty="0">
                <a:solidFill>
                  <a:srgbClr val="BBDEFB"/>
                </a:solidFill>
              </a:rPr>
              <a:t>Passengers/Year</a:t>
            </a:r>
            <a:endParaRPr lang="en-US" sz="1000" dirty="0"/>
          </a:p>
        </p:txBody>
      </p:sp>
      <p:sp>
        <p:nvSpPr>
          <p:cNvPr id="13" name="Text 10"/>
          <p:cNvSpPr/>
          <p:nvPr/>
        </p:nvSpPr>
        <p:spPr>
          <a:xfrm>
            <a:off x="3931920" y="4736592"/>
            <a:ext cx="1371600" cy="201168"/>
          </a:xfrm>
          <a:prstGeom prst="rect">
            <a:avLst/>
          </a:prstGeom>
          <a:noFill/>
        </p:spPr>
        <p:txBody>
          <a:bodyPr wrap="square" lIns="0" tIns="0" rIns="0" bIns="0" rtlCol="0" anchor="ctr"/>
          <a:lstStyle/>
          <a:p>
            <a:pPr marL="0" indent="0">
              <a:buNone/>
            </a:pPr>
            <a:r>
              <a:rPr lang="en-US" sz="1400" b="1" dirty="0">
                <a:solidFill>
                  <a:srgbClr val="2196F3"/>
                </a:solidFill>
              </a:rPr>
              <a:t>1,000+</a:t>
            </a:r>
            <a:endParaRPr lang="en-US" sz="1400" dirty="0"/>
          </a:p>
        </p:txBody>
      </p:sp>
      <p:sp>
        <p:nvSpPr>
          <p:cNvPr id="14" name="Text 11"/>
          <p:cNvSpPr/>
          <p:nvPr/>
        </p:nvSpPr>
        <p:spPr>
          <a:xfrm>
            <a:off x="5349240" y="4736592"/>
            <a:ext cx="1371600" cy="201168"/>
          </a:xfrm>
          <a:prstGeom prst="rect">
            <a:avLst/>
          </a:prstGeom>
          <a:noFill/>
        </p:spPr>
        <p:txBody>
          <a:bodyPr wrap="square" lIns="0" tIns="0" rIns="0" bIns="0" rtlCol="0" anchor="ctr"/>
          <a:lstStyle/>
          <a:p>
            <a:pPr marL="0" indent="0">
              <a:buNone/>
            </a:pPr>
            <a:r>
              <a:rPr lang="en-US" sz="1000" dirty="0">
                <a:solidFill>
                  <a:srgbClr val="BBDEFB"/>
                </a:solidFill>
              </a:rPr>
              <a:t>Airports Secured</a:t>
            </a:r>
            <a:endParaRPr lang="en-US" sz="1000" dirty="0"/>
          </a:p>
        </p:txBody>
      </p:sp>
      <p:sp>
        <p:nvSpPr>
          <p:cNvPr id="15" name="Text 12"/>
          <p:cNvSpPr/>
          <p:nvPr/>
        </p:nvSpPr>
        <p:spPr>
          <a:xfrm>
            <a:off x="6949440" y="4736592"/>
            <a:ext cx="1371600" cy="201168"/>
          </a:xfrm>
          <a:prstGeom prst="rect">
            <a:avLst/>
          </a:prstGeom>
          <a:noFill/>
        </p:spPr>
        <p:txBody>
          <a:bodyPr wrap="square" lIns="0" tIns="0" rIns="0" bIns="0" rtlCol="0" anchor="ctr"/>
          <a:lstStyle/>
          <a:p>
            <a:pPr marL="0" indent="0">
              <a:buNone/>
            </a:pPr>
            <a:r>
              <a:rPr lang="en-US" sz="1400" b="1" dirty="0">
                <a:solidFill>
                  <a:srgbClr val="2196F3"/>
                </a:solidFill>
              </a:rPr>
              <a:t>$20B+</a:t>
            </a:r>
            <a:endParaRPr lang="en-US" sz="1400" dirty="0"/>
          </a:p>
        </p:txBody>
      </p:sp>
      <p:sp>
        <p:nvSpPr>
          <p:cNvPr id="16" name="Text 13"/>
          <p:cNvSpPr/>
          <p:nvPr/>
        </p:nvSpPr>
        <p:spPr>
          <a:xfrm>
            <a:off x="8366760" y="4736592"/>
            <a:ext cx="1371600" cy="201168"/>
          </a:xfrm>
          <a:prstGeom prst="rect">
            <a:avLst/>
          </a:prstGeom>
          <a:noFill/>
        </p:spPr>
        <p:txBody>
          <a:bodyPr wrap="square" lIns="0" tIns="0" rIns="0" bIns="0" rtlCol="0" anchor="ctr"/>
          <a:lstStyle/>
          <a:p>
            <a:pPr marL="0" indent="0">
              <a:buNone/>
            </a:pPr>
            <a:r>
              <a:rPr lang="en-US" sz="1000" dirty="0">
                <a:solidFill>
                  <a:srgbClr val="BBDEFB"/>
                </a:solidFill>
              </a:rPr>
              <a:t>Annual Security Spend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2833"/>
          </a:solidFill>
        </p:spPr>
      </p:sp>
      <p:sp>
        <p:nvSpPr>
          <p:cNvPr id="3" name="Text 1"/>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WHY AIRLINE SECURITY MATTERS</a:t>
            </a:r>
            <a:endParaRPr lang="en-US" sz="2200" dirty="0"/>
          </a:p>
        </p:txBody>
      </p:sp>
      <p:sp>
        <p:nvSpPr>
          <p:cNvPr id="4" name="Shape 2"/>
          <p:cNvSpPr/>
          <p:nvPr/>
        </p:nvSpPr>
        <p:spPr>
          <a:xfrm>
            <a:off x="0" y="640080"/>
            <a:ext cx="9144000" cy="36576"/>
          </a:xfrm>
          <a:prstGeom prst="rect">
            <a:avLst/>
          </a:prstGeom>
          <a:solidFill>
            <a:srgbClr val="2196F3"/>
          </a:solidFill>
        </p:spPr>
      </p:sp>
      <p:sp>
        <p:nvSpPr>
          <p:cNvPr id="5" name="Shape 3"/>
          <p:cNvSpPr/>
          <p:nvPr/>
        </p:nvSpPr>
        <p:spPr>
          <a:xfrm>
            <a:off x="228600" y="914400"/>
            <a:ext cx="2743200" cy="1691640"/>
          </a:xfrm>
          <a:prstGeom prst="rect">
            <a:avLst/>
          </a:prstGeom>
          <a:solidFill>
            <a:srgbClr val="152535"/>
          </a:solidFill>
          <a:effectLst>
            <a:outerShdw blurRad="101600" dist="38100" dir="8100000" algn="bl" rotWithShape="0">
              <a:srgbClr val="000000">
                <a:alpha val="30000"/>
              </a:srgbClr>
            </a:outerShdw>
          </a:effectLst>
        </p:spPr>
      </p:sp>
      <p:sp>
        <p:nvSpPr>
          <p:cNvPr id="6" name="Shape 4"/>
          <p:cNvSpPr/>
          <p:nvPr/>
        </p:nvSpPr>
        <p:spPr>
          <a:xfrm>
            <a:off x="228600" y="914400"/>
            <a:ext cx="2743200" cy="54864"/>
          </a:xfrm>
          <a:prstGeom prst="rect">
            <a:avLst/>
          </a:prstGeom>
          <a:solidFill>
            <a:srgbClr val="1565C0"/>
          </a:solidFill>
        </p:spPr>
      </p:sp>
      <p:pic>
        <p:nvPicPr>
          <p:cNvPr id="7" name="Image 0" descr="preencoded.png"/>
          <p:cNvPicPr>
            <a:picLocks noChangeAspect="1"/>
          </p:cNvPicPr>
          <p:nvPr/>
        </p:nvPicPr>
        <p:blipFill>
          <a:blip r:embed="rId1"/>
          <a:stretch>
            <a:fillRect/>
          </a:stretch>
        </p:blipFill>
        <p:spPr>
          <a:xfrm>
            <a:off x="338328" y="1078992"/>
            <a:ext cx="365760" cy="365760"/>
          </a:xfrm>
          <a:prstGeom prst="rect">
            <a:avLst/>
          </a:prstGeom>
        </p:spPr>
      </p:pic>
      <p:sp>
        <p:nvSpPr>
          <p:cNvPr id="8" name="Text 5"/>
          <p:cNvSpPr/>
          <p:nvPr/>
        </p:nvSpPr>
        <p:spPr>
          <a:xfrm>
            <a:off x="777240" y="1051560"/>
            <a:ext cx="2103120" cy="320040"/>
          </a:xfrm>
          <a:prstGeom prst="rect">
            <a:avLst/>
          </a:prstGeom>
          <a:noFill/>
        </p:spPr>
        <p:txBody>
          <a:bodyPr wrap="square" lIns="0" tIns="0" rIns="0" bIns="0" rtlCol="0" anchor="ctr"/>
          <a:lstStyle/>
          <a:p>
            <a:pPr marL="0" indent="0">
              <a:buNone/>
            </a:pPr>
            <a:r>
              <a:rPr lang="en-US" sz="1200" b="1" dirty="0">
                <a:solidFill>
                  <a:srgbClr val="FFFFFF"/>
                </a:solidFill>
              </a:rPr>
              <a:t>Passenger Safety</a:t>
            </a:r>
            <a:endParaRPr lang="en-US" sz="1200" dirty="0"/>
          </a:p>
        </p:txBody>
      </p:sp>
      <p:sp>
        <p:nvSpPr>
          <p:cNvPr id="9" name="Text 6"/>
          <p:cNvSpPr/>
          <p:nvPr/>
        </p:nvSpPr>
        <p:spPr>
          <a:xfrm>
            <a:off x="338328" y="1463040"/>
            <a:ext cx="2514600" cy="1005840"/>
          </a:xfrm>
          <a:prstGeom prst="rect">
            <a:avLst/>
          </a:prstGeom>
          <a:noFill/>
        </p:spPr>
        <p:txBody>
          <a:bodyPr wrap="square" lIns="0" tIns="0" rIns="0" bIns="0" rtlCol="0" anchor="ctr"/>
          <a:lstStyle/>
          <a:p>
            <a:pPr marL="0" indent="0">
              <a:buNone/>
            </a:pPr>
            <a:r>
              <a:rPr lang="en-US" sz="1000" dirty="0">
                <a:solidFill>
                  <a:srgbClr val="BBDEFB"/>
                </a:solidFill>
              </a:rPr>
              <a:t>Protects millions of travelers from threats, terrorism, and unauthorized access daily</a:t>
            </a:r>
            <a:endParaRPr lang="en-US" sz="1000" dirty="0"/>
          </a:p>
        </p:txBody>
      </p:sp>
      <p:sp>
        <p:nvSpPr>
          <p:cNvPr id="10" name="Shape 7"/>
          <p:cNvSpPr/>
          <p:nvPr/>
        </p:nvSpPr>
        <p:spPr>
          <a:xfrm>
            <a:off x="3154680" y="914400"/>
            <a:ext cx="2743200" cy="1691640"/>
          </a:xfrm>
          <a:prstGeom prst="rect">
            <a:avLst/>
          </a:prstGeom>
          <a:solidFill>
            <a:srgbClr val="152535"/>
          </a:solidFill>
          <a:effectLst>
            <a:outerShdw blurRad="101600" dist="38100" dir="8100000" algn="bl" rotWithShape="0">
              <a:srgbClr val="000000">
                <a:alpha val="30000"/>
              </a:srgbClr>
            </a:outerShdw>
          </a:effectLst>
        </p:spPr>
      </p:sp>
      <p:sp>
        <p:nvSpPr>
          <p:cNvPr id="11" name="Shape 8"/>
          <p:cNvSpPr/>
          <p:nvPr/>
        </p:nvSpPr>
        <p:spPr>
          <a:xfrm>
            <a:off x="3154680" y="914400"/>
            <a:ext cx="2743200" cy="54864"/>
          </a:xfrm>
          <a:prstGeom prst="rect">
            <a:avLst/>
          </a:prstGeom>
          <a:solidFill>
            <a:srgbClr val="0277BD"/>
          </a:solidFill>
        </p:spPr>
      </p:sp>
      <p:pic>
        <p:nvPicPr>
          <p:cNvPr id="12" name="Image 1" descr="preencoded.png"/>
          <p:cNvPicPr>
            <a:picLocks noChangeAspect="1"/>
          </p:cNvPicPr>
          <p:nvPr/>
        </p:nvPicPr>
        <p:blipFill>
          <a:blip r:embed="rId2"/>
          <a:stretch>
            <a:fillRect/>
          </a:stretch>
        </p:blipFill>
        <p:spPr>
          <a:xfrm>
            <a:off x="3264408" y="1078992"/>
            <a:ext cx="365760" cy="365760"/>
          </a:xfrm>
          <a:prstGeom prst="rect">
            <a:avLst/>
          </a:prstGeom>
        </p:spPr>
      </p:pic>
      <p:sp>
        <p:nvSpPr>
          <p:cNvPr id="13" name="Text 9"/>
          <p:cNvSpPr/>
          <p:nvPr/>
        </p:nvSpPr>
        <p:spPr>
          <a:xfrm>
            <a:off x="3703320" y="1051560"/>
            <a:ext cx="2103120" cy="320040"/>
          </a:xfrm>
          <a:prstGeom prst="rect">
            <a:avLst/>
          </a:prstGeom>
          <a:noFill/>
        </p:spPr>
        <p:txBody>
          <a:bodyPr wrap="square" lIns="0" tIns="0" rIns="0" bIns="0" rtlCol="0" anchor="ctr"/>
          <a:lstStyle/>
          <a:p>
            <a:pPr marL="0" indent="0">
              <a:buNone/>
            </a:pPr>
            <a:r>
              <a:rPr lang="en-US" sz="1200" b="1" dirty="0">
                <a:solidFill>
                  <a:srgbClr val="FFFFFF"/>
                </a:solidFill>
              </a:rPr>
              <a:t>Aviation Integrity</a:t>
            </a:r>
            <a:endParaRPr lang="en-US" sz="1200" dirty="0"/>
          </a:p>
        </p:txBody>
      </p:sp>
      <p:sp>
        <p:nvSpPr>
          <p:cNvPr id="14" name="Text 10"/>
          <p:cNvSpPr/>
          <p:nvPr/>
        </p:nvSpPr>
        <p:spPr>
          <a:xfrm>
            <a:off x="3264408" y="1463040"/>
            <a:ext cx="2514600" cy="1005840"/>
          </a:xfrm>
          <a:prstGeom prst="rect">
            <a:avLst/>
          </a:prstGeom>
          <a:noFill/>
        </p:spPr>
        <p:txBody>
          <a:bodyPr wrap="square" lIns="0" tIns="0" rIns="0" bIns="0" rtlCol="0" anchor="ctr"/>
          <a:lstStyle/>
          <a:p>
            <a:pPr marL="0" indent="0">
              <a:buNone/>
            </a:pPr>
            <a:r>
              <a:rPr lang="en-US" sz="1000" dirty="0">
                <a:solidFill>
                  <a:srgbClr val="BBDEFB"/>
                </a:solidFill>
              </a:rPr>
              <a:t>Ensures the reliability and trust of the global aviation infrastructure</a:t>
            </a:r>
            <a:endParaRPr lang="en-US" sz="1000" dirty="0"/>
          </a:p>
        </p:txBody>
      </p:sp>
      <p:sp>
        <p:nvSpPr>
          <p:cNvPr id="15" name="Shape 11"/>
          <p:cNvSpPr/>
          <p:nvPr/>
        </p:nvSpPr>
        <p:spPr>
          <a:xfrm>
            <a:off x="6080760" y="914400"/>
            <a:ext cx="2743200" cy="1691640"/>
          </a:xfrm>
          <a:prstGeom prst="rect">
            <a:avLst/>
          </a:prstGeom>
          <a:solidFill>
            <a:srgbClr val="152535"/>
          </a:solidFill>
          <a:effectLst>
            <a:outerShdw blurRad="101600" dist="38100" dir="8100000" algn="bl" rotWithShape="0">
              <a:srgbClr val="000000">
                <a:alpha val="30000"/>
              </a:srgbClr>
            </a:outerShdw>
          </a:effectLst>
        </p:spPr>
      </p:sp>
      <p:sp>
        <p:nvSpPr>
          <p:cNvPr id="16" name="Shape 12"/>
          <p:cNvSpPr/>
          <p:nvPr/>
        </p:nvSpPr>
        <p:spPr>
          <a:xfrm>
            <a:off x="6080760" y="914400"/>
            <a:ext cx="2743200" cy="54864"/>
          </a:xfrm>
          <a:prstGeom prst="rect">
            <a:avLst/>
          </a:prstGeom>
          <a:solidFill>
            <a:srgbClr val="00838F"/>
          </a:solidFill>
        </p:spPr>
      </p:sp>
      <p:pic>
        <p:nvPicPr>
          <p:cNvPr id="17" name="Image 2" descr="preencoded.png"/>
          <p:cNvPicPr>
            <a:picLocks noChangeAspect="1"/>
          </p:cNvPicPr>
          <p:nvPr/>
        </p:nvPicPr>
        <p:blipFill>
          <a:blip r:embed="rId3"/>
          <a:stretch>
            <a:fillRect/>
          </a:stretch>
        </p:blipFill>
        <p:spPr>
          <a:xfrm>
            <a:off x="6190488" y="1078992"/>
            <a:ext cx="365760" cy="365760"/>
          </a:xfrm>
          <a:prstGeom prst="rect">
            <a:avLst/>
          </a:prstGeom>
        </p:spPr>
      </p:pic>
      <p:sp>
        <p:nvSpPr>
          <p:cNvPr id="18" name="Text 13"/>
          <p:cNvSpPr/>
          <p:nvPr/>
        </p:nvSpPr>
        <p:spPr>
          <a:xfrm>
            <a:off x="6629400" y="1051560"/>
            <a:ext cx="2103120" cy="320040"/>
          </a:xfrm>
          <a:prstGeom prst="rect">
            <a:avLst/>
          </a:prstGeom>
          <a:noFill/>
        </p:spPr>
        <p:txBody>
          <a:bodyPr wrap="square" lIns="0" tIns="0" rIns="0" bIns="0" rtlCol="0" anchor="ctr"/>
          <a:lstStyle/>
          <a:p>
            <a:pPr marL="0" indent="0">
              <a:buNone/>
            </a:pPr>
            <a:r>
              <a:rPr lang="en-US" sz="1200" b="1" dirty="0">
                <a:solidFill>
                  <a:srgbClr val="FFFFFF"/>
                </a:solidFill>
              </a:rPr>
              <a:t>National Security</a:t>
            </a:r>
            <a:endParaRPr lang="en-US" sz="1200" dirty="0"/>
          </a:p>
        </p:txBody>
      </p:sp>
      <p:sp>
        <p:nvSpPr>
          <p:cNvPr id="19" name="Text 14"/>
          <p:cNvSpPr/>
          <p:nvPr/>
        </p:nvSpPr>
        <p:spPr>
          <a:xfrm>
            <a:off x="6190488" y="1463040"/>
            <a:ext cx="2514600" cy="1005840"/>
          </a:xfrm>
          <a:prstGeom prst="rect">
            <a:avLst/>
          </a:prstGeom>
          <a:noFill/>
        </p:spPr>
        <p:txBody>
          <a:bodyPr wrap="square" lIns="0" tIns="0" rIns="0" bIns="0" rtlCol="0" anchor="ctr"/>
          <a:lstStyle/>
          <a:p>
            <a:pPr marL="0" indent="0">
              <a:buNone/>
            </a:pPr>
            <a:r>
              <a:rPr lang="en-US" sz="1000" dirty="0">
                <a:solidFill>
                  <a:srgbClr val="BBDEFB"/>
                </a:solidFill>
              </a:rPr>
              <a:t>Prevents cross-border criminal activities, smuggling, and terrorist movements</a:t>
            </a:r>
            <a:endParaRPr lang="en-US" sz="1000" dirty="0"/>
          </a:p>
        </p:txBody>
      </p:sp>
      <p:sp>
        <p:nvSpPr>
          <p:cNvPr id="20" name="Shape 15"/>
          <p:cNvSpPr/>
          <p:nvPr/>
        </p:nvSpPr>
        <p:spPr>
          <a:xfrm>
            <a:off x="228600" y="2834640"/>
            <a:ext cx="2743200" cy="1691640"/>
          </a:xfrm>
          <a:prstGeom prst="rect">
            <a:avLst/>
          </a:prstGeom>
          <a:solidFill>
            <a:srgbClr val="152535"/>
          </a:solidFill>
          <a:effectLst>
            <a:outerShdw blurRad="101600" dist="38100" dir="8100000" algn="bl" rotWithShape="0">
              <a:srgbClr val="000000">
                <a:alpha val="30000"/>
              </a:srgbClr>
            </a:outerShdw>
          </a:effectLst>
        </p:spPr>
      </p:sp>
      <p:sp>
        <p:nvSpPr>
          <p:cNvPr id="21" name="Shape 16"/>
          <p:cNvSpPr/>
          <p:nvPr/>
        </p:nvSpPr>
        <p:spPr>
          <a:xfrm>
            <a:off x="228600" y="2834640"/>
            <a:ext cx="2743200" cy="54864"/>
          </a:xfrm>
          <a:prstGeom prst="rect">
            <a:avLst/>
          </a:prstGeom>
          <a:solidFill>
            <a:srgbClr val="2E7D32"/>
          </a:solidFill>
        </p:spPr>
      </p:sp>
      <p:pic>
        <p:nvPicPr>
          <p:cNvPr id="22" name="Image 3" descr="preencoded.png"/>
          <p:cNvPicPr>
            <a:picLocks noChangeAspect="1"/>
          </p:cNvPicPr>
          <p:nvPr/>
        </p:nvPicPr>
        <p:blipFill>
          <a:blip r:embed="rId4"/>
          <a:stretch>
            <a:fillRect/>
          </a:stretch>
        </p:blipFill>
        <p:spPr>
          <a:xfrm>
            <a:off x="338328" y="2999232"/>
            <a:ext cx="365760" cy="365760"/>
          </a:xfrm>
          <a:prstGeom prst="rect">
            <a:avLst/>
          </a:prstGeom>
        </p:spPr>
      </p:pic>
      <p:sp>
        <p:nvSpPr>
          <p:cNvPr id="23" name="Text 17"/>
          <p:cNvSpPr/>
          <p:nvPr/>
        </p:nvSpPr>
        <p:spPr>
          <a:xfrm>
            <a:off x="777240" y="2971800"/>
            <a:ext cx="2103120" cy="320040"/>
          </a:xfrm>
          <a:prstGeom prst="rect">
            <a:avLst/>
          </a:prstGeom>
          <a:noFill/>
        </p:spPr>
        <p:txBody>
          <a:bodyPr wrap="square" lIns="0" tIns="0" rIns="0" bIns="0" rtlCol="0" anchor="ctr"/>
          <a:lstStyle/>
          <a:p>
            <a:pPr marL="0" indent="0">
              <a:buNone/>
            </a:pPr>
            <a:r>
              <a:rPr lang="en-US" sz="1200" b="1" dirty="0">
                <a:solidFill>
                  <a:srgbClr val="FFFFFF"/>
                </a:solidFill>
              </a:rPr>
              <a:t>Regulatory Compliance</a:t>
            </a:r>
            <a:endParaRPr lang="en-US" sz="1200" dirty="0"/>
          </a:p>
        </p:txBody>
      </p:sp>
      <p:sp>
        <p:nvSpPr>
          <p:cNvPr id="24" name="Text 18"/>
          <p:cNvSpPr/>
          <p:nvPr/>
        </p:nvSpPr>
        <p:spPr>
          <a:xfrm>
            <a:off x="338328" y="3383280"/>
            <a:ext cx="2514600" cy="1005840"/>
          </a:xfrm>
          <a:prstGeom prst="rect">
            <a:avLst/>
          </a:prstGeom>
          <a:noFill/>
        </p:spPr>
        <p:txBody>
          <a:bodyPr wrap="square" lIns="0" tIns="0" rIns="0" bIns="0" rtlCol="0" anchor="ctr"/>
          <a:lstStyle/>
          <a:p>
            <a:pPr marL="0" indent="0">
              <a:buNone/>
            </a:pPr>
            <a:r>
              <a:rPr lang="en-US" sz="1000" dirty="0">
                <a:solidFill>
                  <a:srgbClr val="BBDEFB"/>
                </a:solidFill>
              </a:rPr>
              <a:t>Meets ICAO, TSA, EASA mandates to maintain operational licenses</a:t>
            </a:r>
            <a:endParaRPr lang="en-US" sz="1000" dirty="0"/>
          </a:p>
        </p:txBody>
      </p:sp>
      <p:sp>
        <p:nvSpPr>
          <p:cNvPr id="25" name="Shape 19"/>
          <p:cNvSpPr/>
          <p:nvPr/>
        </p:nvSpPr>
        <p:spPr>
          <a:xfrm>
            <a:off x="3154680" y="2834640"/>
            <a:ext cx="2743200" cy="1691640"/>
          </a:xfrm>
          <a:prstGeom prst="rect">
            <a:avLst/>
          </a:prstGeom>
          <a:solidFill>
            <a:srgbClr val="152535"/>
          </a:solidFill>
          <a:effectLst>
            <a:outerShdw blurRad="101600" dist="38100" dir="8100000" algn="bl" rotWithShape="0">
              <a:srgbClr val="000000">
                <a:alpha val="30000"/>
              </a:srgbClr>
            </a:outerShdw>
          </a:effectLst>
        </p:spPr>
      </p:sp>
      <p:sp>
        <p:nvSpPr>
          <p:cNvPr id="26" name="Shape 20"/>
          <p:cNvSpPr/>
          <p:nvPr/>
        </p:nvSpPr>
        <p:spPr>
          <a:xfrm>
            <a:off x="3154680" y="2834640"/>
            <a:ext cx="2743200" cy="54864"/>
          </a:xfrm>
          <a:prstGeom prst="rect">
            <a:avLst/>
          </a:prstGeom>
          <a:solidFill>
            <a:srgbClr val="6A1B9A"/>
          </a:solidFill>
        </p:spPr>
      </p:sp>
      <p:pic>
        <p:nvPicPr>
          <p:cNvPr id="27" name="Image 4" descr="preencoded.png"/>
          <p:cNvPicPr>
            <a:picLocks noChangeAspect="1"/>
          </p:cNvPicPr>
          <p:nvPr/>
        </p:nvPicPr>
        <p:blipFill>
          <a:blip r:embed="rId5"/>
          <a:stretch>
            <a:fillRect/>
          </a:stretch>
        </p:blipFill>
        <p:spPr>
          <a:xfrm>
            <a:off x="3264408" y="2999232"/>
            <a:ext cx="365760" cy="365760"/>
          </a:xfrm>
          <a:prstGeom prst="rect">
            <a:avLst/>
          </a:prstGeom>
        </p:spPr>
      </p:pic>
      <p:sp>
        <p:nvSpPr>
          <p:cNvPr id="28" name="Text 21"/>
          <p:cNvSpPr/>
          <p:nvPr/>
        </p:nvSpPr>
        <p:spPr>
          <a:xfrm>
            <a:off x="3703320" y="2971800"/>
            <a:ext cx="2103120" cy="320040"/>
          </a:xfrm>
          <a:prstGeom prst="rect">
            <a:avLst/>
          </a:prstGeom>
          <a:noFill/>
        </p:spPr>
        <p:txBody>
          <a:bodyPr wrap="square" lIns="0" tIns="0" rIns="0" bIns="0" rtlCol="0" anchor="ctr"/>
          <a:lstStyle/>
          <a:p>
            <a:pPr marL="0" indent="0">
              <a:buNone/>
            </a:pPr>
            <a:r>
              <a:rPr lang="en-US" sz="1200" b="1" dirty="0">
                <a:solidFill>
                  <a:srgbClr val="FFFFFF"/>
                </a:solidFill>
              </a:rPr>
              <a:t>Economic Protection</a:t>
            </a:r>
            <a:endParaRPr lang="en-US" sz="1200" dirty="0"/>
          </a:p>
        </p:txBody>
      </p:sp>
      <p:sp>
        <p:nvSpPr>
          <p:cNvPr id="29" name="Text 22"/>
          <p:cNvSpPr/>
          <p:nvPr/>
        </p:nvSpPr>
        <p:spPr>
          <a:xfrm>
            <a:off x="3264408" y="3383280"/>
            <a:ext cx="2514600" cy="1005840"/>
          </a:xfrm>
          <a:prstGeom prst="rect">
            <a:avLst/>
          </a:prstGeom>
          <a:noFill/>
        </p:spPr>
        <p:txBody>
          <a:bodyPr wrap="square" lIns="0" tIns="0" rIns="0" bIns="0" rtlCol="0" anchor="ctr"/>
          <a:lstStyle/>
          <a:p>
            <a:pPr marL="0" indent="0">
              <a:buNone/>
            </a:pPr>
            <a:r>
              <a:rPr lang="en-US" sz="1000" dirty="0">
                <a:solidFill>
                  <a:srgbClr val="BBDEFB"/>
                </a:solidFill>
              </a:rPr>
              <a:t>Aviation contributes $3.5 trillion to global GDP — security maintains this flow</a:t>
            </a:r>
            <a:endParaRPr lang="en-US" sz="1000" dirty="0"/>
          </a:p>
        </p:txBody>
      </p:sp>
      <p:sp>
        <p:nvSpPr>
          <p:cNvPr id="30" name="Shape 23"/>
          <p:cNvSpPr/>
          <p:nvPr/>
        </p:nvSpPr>
        <p:spPr>
          <a:xfrm>
            <a:off x="6080760" y="2834640"/>
            <a:ext cx="2743200" cy="1691640"/>
          </a:xfrm>
          <a:prstGeom prst="rect">
            <a:avLst/>
          </a:prstGeom>
          <a:solidFill>
            <a:srgbClr val="152535"/>
          </a:solidFill>
          <a:effectLst>
            <a:outerShdw blurRad="101600" dist="38100" dir="8100000" algn="bl" rotWithShape="0">
              <a:srgbClr val="000000">
                <a:alpha val="30000"/>
              </a:srgbClr>
            </a:outerShdw>
          </a:effectLst>
        </p:spPr>
      </p:sp>
      <p:sp>
        <p:nvSpPr>
          <p:cNvPr id="31" name="Shape 24"/>
          <p:cNvSpPr/>
          <p:nvPr/>
        </p:nvSpPr>
        <p:spPr>
          <a:xfrm>
            <a:off x="6080760" y="2834640"/>
            <a:ext cx="2743200" cy="54864"/>
          </a:xfrm>
          <a:prstGeom prst="rect">
            <a:avLst/>
          </a:prstGeom>
          <a:solidFill>
            <a:srgbClr val="C62828"/>
          </a:solidFill>
        </p:spPr>
      </p:sp>
      <p:pic>
        <p:nvPicPr>
          <p:cNvPr id="32" name="Image 5" descr="preencoded.png"/>
          <p:cNvPicPr>
            <a:picLocks noChangeAspect="1"/>
          </p:cNvPicPr>
          <p:nvPr/>
        </p:nvPicPr>
        <p:blipFill>
          <a:blip r:embed="rId6"/>
          <a:stretch>
            <a:fillRect/>
          </a:stretch>
        </p:blipFill>
        <p:spPr>
          <a:xfrm>
            <a:off x="6190488" y="2999232"/>
            <a:ext cx="365760" cy="365760"/>
          </a:xfrm>
          <a:prstGeom prst="rect">
            <a:avLst/>
          </a:prstGeom>
        </p:spPr>
      </p:pic>
      <p:sp>
        <p:nvSpPr>
          <p:cNvPr id="33" name="Text 25"/>
          <p:cNvSpPr/>
          <p:nvPr/>
        </p:nvSpPr>
        <p:spPr>
          <a:xfrm>
            <a:off x="6629400" y="2971800"/>
            <a:ext cx="2103120" cy="320040"/>
          </a:xfrm>
          <a:prstGeom prst="rect">
            <a:avLst/>
          </a:prstGeom>
          <a:noFill/>
        </p:spPr>
        <p:txBody>
          <a:bodyPr wrap="square" lIns="0" tIns="0" rIns="0" bIns="0" rtlCol="0" anchor="ctr"/>
          <a:lstStyle/>
          <a:p>
            <a:pPr marL="0" indent="0">
              <a:buNone/>
            </a:pPr>
            <a:r>
              <a:rPr lang="en-US" sz="1200" b="1" dirty="0">
                <a:solidFill>
                  <a:srgbClr val="FFFFFF"/>
                </a:solidFill>
              </a:rPr>
              <a:t>Rapid Response</a:t>
            </a:r>
            <a:endParaRPr lang="en-US" sz="1200" dirty="0"/>
          </a:p>
        </p:txBody>
      </p:sp>
      <p:sp>
        <p:nvSpPr>
          <p:cNvPr id="34" name="Text 26"/>
          <p:cNvSpPr/>
          <p:nvPr/>
        </p:nvSpPr>
        <p:spPr>
          <a:xfrm>
            <a:off x="6190488" y="3383280"/>
            <a:ext cx="2514600" cy="1005840"/>
          </a:xfrm>
          <a:prstGeom prst="rect">
            <a:avLst/>
          </a:prstGeom>
          <a:noFill/>
        </p:spPr>
        <p:txBody>
          <a:bodyPr wrap="square" lIns="0" tIns="0" rIns="0" bIns="0" rtlCol="0" anchor="ctr"/>
          <a:lstStyle/>
          <a:p>
            <a:pPr marL="0" indent="0">
              <a:buNone/>
            </a:pPr>
            <a:r>
              <a:rPr lang="en-US" sz="1000" dirty="0">
                <a:solidFill>
                  <a:srgbClr val="BBDEFB"/>
                </a:solidFill>
              </a:rPr>
              <a:t>Enables quick detection and neutralization of security threats in real-time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C5E"/>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000" b="1" dirty="0">
                <a:solidFill>
                  <a:srgbClr val="FFFFFF"/>
                </a:solidFill>
              </a:rPr>
              <a:t>MAIN COMPONENTS OF AIRLINE SECURITY</a:t>
            </a:r>
            <a:endParaRPr lang="en-US" sz="2000" dirty="0"/>
          </a:p>
        </p:txBody>
      </p:sp>
      <p:sp>
        <p:nvSpPr>
          <p:cNvPr id="5" name="Shape 3"/>
          <p:cNvSpPr/>
          <p:nvPr/>
        </p:nvSpPr>
        <p:spPr>
          <a:xfrm>
            <a:off x="228600" y="822960"/>
            <a:ext cx="4206240" cy="1188720"/>
          </a:xfrm>
          <a:prstGeom prst="rect">
            <a:avLst/>
          </a:prstGeom>
          <a:solidFill>
            <a:srgbClr val="FFFFFF"/>
          </a:solidFill>
          <a:effectLst>
            <a:outerShdw blurRad="63500" dist="25400" dir="8100000" algn="bl" rotWithShape="0">
              <a:srgbClr val="000000">
                <a:alpha val="12000"/>
              </a:srgbClr>
            </a:outerShdw>
          </a:effectLst>
        </p:spPr>
      </p:sp>
      <p:sp>
        <p:nvSpPr>
          <p:cNvPr id="6" name="Shape 4"/>
          <p:cNvSpPr/>
          <p:nvPr/>
        </p:nvSpPr>
        <p:spPr>
          <a:xfrm>
            <a:off x="228600" y="822960"/>
            <a:ext cx="91440" cy="1188720"/>
          </a:xfrm>
          <a:prstGeom prst="rect">
            <a:avLst/>
          </a:prstGeom>
          <a:solidFill>
            <a:srgbClr val="1E6091"/>
          </a:solidFill>
        </p:spPr>
      </p:sp>
      <p:sp>
        <p:nvSpPr>
          <p:cNvPr id="7" name="Text 5"/>
          <p:cNvSpPr/>
          <p:nvPr/>
        </p:nvSpPr>
        <p:spPr>
          <a:xfrm>
            <a:off x="411480" y="932688"/>
            <a:ext cx="457200" cy="320040"/>
          </a:xfrm>
          <a:prstGeom prst="rect">
            <a:avLst/>
          </a:prstGeom>
          <a:noFill/>
        </p:spPr>
        <p:txBody>
          <a:bodyPr wrap="square" lIns="0" tIns="0" rIns="0" bIns="0" rtlCol="0" anchor="ctr"/>
          <a:lstStyle/>
          <a:p>
            <a:pPr marL="0" indent="0">
              <a:buNone/>
            </a:pPr>
            <a:r>
              <a:rPr lang="en-US" sz="2000" b="1" dirty="0">
                <a:solidFill>
                  <a:srgbClr val="1E6091"/>
                </a:solidFill>
              </a:rPr>
              <a:t>01</a:t>
            </a:r>
            <a:endParaRPr lang="en-US" sz="2000" dirty="0"/>
          </a:p>
        </p:txBody>
      </p:sp>
      <p:sp>
        <p:nvSpPr>
          <p:cNvPr id="8" name="Text 6"/>
          <p:cNvSpPr/>
          <p:nvPr/>
        </p:nvSpPr>
        <p:spPr>
          <a:xfrm>
            <a:off x="914400" y="932688"/>
            <a:ext cx="3383280" cy="274320"/>
          </a:xfrm>
          <a:prstGeom prst="rect">
            <a:avLst/>
          </a:prstGeom>
          <a:noFill/>
        </p:spPr>
        <p:txBody>
          <a:bodyPr wrap="square" lIns="0" tIns="0" rIns="0" bIns="0" rtlCol="0" anchor="ctr"/>
          <a:lstStyle/>
          <a:p>
            <a:pPr marL="0" indent="0">
              <a:buNone/>
            </a:pPr>
            <a:r>
              <a:rPr lang="en-US" sz="1300" b="1" dirty="0">
                <a:solidFill>
                  <a:srgbClr val="2D3748"/>
                </a:solidFill>
              </a:rPr>
              <a:t>Access Control</a:t>
            </a:r>
            <a:endParaRPr lang="en-US" sz="1300" dirty="0"/>
          </a:p>
        </p:txBody>
      </p:sp>
      <p:sp>
        <p:nvSpPr>
          <p:cNvPr id="9" name="Text 7"/>
          <p:cNvSpPr/>
          <p:nvPr/>
        </p:nvSpPr>
        <p:spPr>
          <a:xfrm>
            <a:off x="914400" y="1280160"/>
            <a:ext cx="3383280" cy="658368"/>
          </a:xfrm>
          <a:prstGeom prst="rect">
            <a:avLst/>
          </a:prstGeom>
          <a:noFill/>
        </p:spPr>
        <p:txBody>
          <a:bodyPr wrap="square" lIns="0" tIns="0" rIns="0" bIns="0" rtlCol="0" anchor="ctr"/>
          <a:lstStyle/>
          <a:p>
            <a:pPr marL="0" indent="0">
              <a:buNone/>
            </a:pPr>
            <a:r>
              <a:rPr lang="en-US" sz="1050" dirty="0">
                <a:solidFill>
                  <a:srgbClr val="8899AA"/>
                </a:solidFill>
              </a:rPr>
              <a:t>Biometric access, ID verification, and perimeter fencing restrict unauthorized entry</a:t>
            </a:r>
            <a:endParaRPr lang="en-US" sz="1050" dirty="0"/>
          </a:p>
        </p:txBody>
      </p:sp>
      <p:sp>
        <p:nvSpPr>
          <p:cNvPr id="10" name="Shape 8"/>
          <p:cNvSpPr/>
          <p:nvPr/>
        </p:nvSpPr>
        <p:spPr>
          <a:xfrm>
            <a:off x="4663440" y="822960"/>
            <a:ext cx="4206240" cy="1188720"/>
          </a:xfrm>
          <a:prstGeom prst="rect">
            <a:avLst/>
          </a:prstGeom>
          <a:solidFill>
            <a:srgbClr val="FFFFFF"/>
          </a:solidFill>
          <a:effectLst>
            <a:outerShdw blurRad="63500" dist="25400" dir="8100000" algn="bl" rotWithShape="0">
              <a:srgbClr val="000000">
                <a:alpha val="12000"/>
              </a:srgbClr>
            </a:outerShdw>
          </a:effectLst>
        </p:spPr>
      </p:sp>
      <p:sp>
        <p:nvSpPr>
          <p:cNvPr id="11" name="Shape 9"/>
          <p:cNvSpPr/>
          <p:nvPr/>
        </p:nvSpPr>
        <p:spPr>
          <a:xfrm>
            <a:off x="4663440" y="822960"/>
            <a:ext cx="91440" cy="1188720"/>
          </a:xfrm>
          <a:prstGeom prst="rect">
            <a:avLst/>
          </a:prstGeom>
          <a:solidFill>
            <a:srgbClr val="1565C0"/>
          </a:solidFill>
        </p:spPr>
      </p:sp>
      <p:sp>
        <p:nvSpPr>
          <p:cNvPr id="12" name="Text 10"/>
          <p:cNvSpPr/>
          <p:nvPr/>
        </p:nvSpPr>
        <p:spPr>
          <a:xfrm>
            <a:off x="4846320" y="932688"/>
            <a:ext cx="457200" cy="320040"/>
          </a:xfrm>
          <a:prstGeom prst="rect">
            <a:avLst/>
          </a:prstGeom>
          <a:noFill/>
        </p:spPr>
        <p:txBody>
          <a:bodyPr wrap="square" lIns="0" tIns="0" rIns="0" bIns="0" rtlCol="0" anchor="ctr"/>
          <a:lstStyle/>
          <a:p>
            <a:pPr marL="0" indent="0">
              <a:buNone/>
            </a:pPr>
            <a:r>
              <a:rPr lang="en-US" sz="2000" b="1" dirty="0">
                <a:solidFill>
                  <a:srgbClr val="1565C0"/>
                </a:solidFill>
              </a:rPr>
              <a:t>02</a:t>
            </a:r>
            <a:endParaRPr lang="en-US" sz="2000" dirty="0"/>
          </a:p>
        </p:txBody>
      </p:sp>
      <p:sp>
        <p:nvSpPr>
          <p:cNvPr id="13" name="Text 11"/>
          <p:cNvSpPr/>
          <p:nvPr/>
        </p:nvSpPr>
        <p:spPr>
          <a:xfrm>
            <a:off x="5349240" y="932688"/>
            <a:ext cx="3383280" cy="274320"/>
          </a:xfrm>
          <a:prstGeom prst="rect">
            <a:avLst/>
          </a:prstGeom>
          <a:noFill/>
        </p:spPr>
        <p:txBody>
          <a:bodyPr wrap="square" lIns="0" tIns="0" rIns="0" bIns="0" rtlCol="0" anchor="ctr"/>
          <a:lstStyle/>
          <a:p>
            <a:pPr marL="0" indent="0">
              <a:buNone/>
            </a:pPr>
            <a:r>
              <a:rPr lang="en-US" sz="1300" b="1" dirty="0">
                <a:solidFill>
                  <a:srgbClr val="2D3748"/>
                </a:solidFill>
              </a:rPr>
              <a:t>Passenger Screening</a:t>
            </a:r>
            <a:endParaRPr lang="en-US" sz="1300" dirty="0"/>
          </a:p>
        </p:txBody>
      </p:sp>
      <p:sp>
        <p:nvSpPr>
          <p:cNvPr id="14" name="Text 12"/>
          <p:cNvSpPr/>
          <p:nvPr/>
        </p:nvSpPr>
        <p:spPr>
          <a:xfrm>
            <a:off x="5349240" y="1280160"/>
            <a:ext cx="3383280" cy="658368"/>
          </a:xfrm>
          <a:prstGeom prst="rect">
            <a:avLst/>
          </a:prstGeom>
          <a:noFill/>
        </p:spPr>
        <p:txBody>
          <a:bodyPr wrap="square" lIns="0" tIns="0" rIns="0" bIns="0" rtlCol="0" anchor="ctr"/>
          <a:lstStyle/>
          <a:p>
            <a:pPr marL="0" indent="0">
              <a:buNone/>
            </a:pPr>
            <a:r>
              <a:rPr lang="en-US" sz="1050" dirty="0">
                <a:solidFill>
                  <a:srgbClr val="8899AA"/>
                </a:solidFill>
              </a:rPr>
              <a:t>Metal detectors, body scanners, and document verification at checkpoints</a:t>
            </a:r>
            <a:endParaRPr lang="en-US" sz="1050" dirty="0"/>
          </a:p>
        </p:txBody>
      </p:sp>
      <p:sp>
        <p:nvSpPr>
          <p:cNvPr id="15" name="Shape 13"/>
          <p:cNvSpPr/>
          <p:nvPr/>
        </p:nvSpPr>
        <p:spPr>
          <a:xfrm>
            <a:off x="228600" y="2194560"/>
            <a:ext cx="4206240" cy="1188720"/>
          </a:xfrm>
          <a:prstGeom prst="rect">
            <a:avLst/>
          </a:prstGeom>
          <a:solidFill>
            <a:srgbClr val="FFFFFF"/>
          </a:solidFill>
          <a:effectLst>
            <a:outerShdw blurRad="63500" dist="25400" dir="8100000" algn="bl" rotWithShape="0">
              <a:srgbClr val="000000">
                <a:alpha val="12000"/>
              </a:srgbClr>
            </a:outerShdw>
          </a:effectLst>
        </p:spPr>
      </p:sp>
      <p:sp>
        <p:nvSpPr>
          <p:cNvPr id="16" name="Shape 14"/>
          <p:cNvSpPr/>
          <p:nvPr/>
        </p:nvSpPr>
        <p:spPr>
          <a:xfrm>
            <a:off x="228600" y="2194560"/>
            <a:ext cx="91440" cy="1188720"/>
          </a:xfrm>
          <a:prstGeom prst="rect">
            <a:avLst/>
          </a:prstGeom>
          <a:solidFill>
            <a:srgbClr val="00695C"/>
          </a:solidFill>
        </p:spPr>
      </p:sp>
      <p:sp>
        <p:nvSpPr>
          <p:cNvPr id="17" name="Text 15"/>
          <p:cNvSpPr/>
          <p:nvPr/>
        </p:nvSpPr>
        <p:spPr>
          <a:xfrm>
            <a:off x="411480" y="2304288"/>
            <a:ext cx="457200" cy="320040"/>
          </a:xfrm>
          <a:prstGeom prst="rect">
            <a:avLst/>
          </a:prstGeom>
          <a:noFill/>
        </p:spPr>
        <p:txBody>
          <a:bodyPr wrap="square" lIns="0" tIns="0" rIns="0" bIns="0" rtlCol="0" anchor="ctr"/>
          <a:lstStyle/>
          <a:p>
            <a:pPr marL="0" indent="0">
              <a:buNone/>
            </a:pPr>
            <a:r>
              <a:rPr lang="en-US" sz="2000" b="1" dirty="0">
                <a:solidFill>
                  <a:srgbClr val="00695C"/>
                </a:solidFill>
              </a:rPr>
              <a:t>03</a:t>
            </a:r>
            <a:endParaRPr lang="en-US" sz="2000" dirty="0"/>
          </a:p>
        </p:txBody>
      </p:sp>
      <p:sp>
        <p:nvSpPr>
          <p:cNvPr id="18" name="Text 16"/>
          <p:cNvSpPr/>
          <p:nvPr/>
        </p:nvSpPr>
        <p:spPr>
          <a:xfrm>
            <a:off x="914400" y="2304288"/>
            <a:ext cx="3383280" cy="274320"/>
          </a:xfrm>
          <a:prstGeom prst="rect">
            <a:avLst/>
          </a:prstGeom>
          <a:noFill/>
        </p:spPr>
        <p:txBody>
          <a:bodyPr wrap="square" lIns="0" tIns="0" rIns="0" bIns="0" rtlCol="0" anchor="ctr"/>
          <a:lstStyle/>
          <a:p>
            <a:pPr marL="0" indent="0">
              <a:buNone/>
            </a:pPr>
            <a:r>
              <a:rPr lang="en-US" sz="1300" b="1" dirty="0">
                <a:solidFill>
                  <a:srgbClr val="2D3748"/>
                </a:solidFill>
              </a:rPr>
              <a:t>Baggage Screening</a:t>
            </a:r>
            <a:endParaRPr lang="en-US" sz="1300" dirty="0"/>
          </a:p>
        </p:txBody>
      </p:sp>
      <p:sp>
        <p:nvSpPr>
          <p:cNvPr id="19" name="Text 17"/>
          <p:cNvSpPr/>
          <p:nvPr/>
        </p:nvSpPr>
        <p:spPr>
          <a:xfrm>
            <a:off x="914400" y="2651760"/>
            <a:ext cx="3383280" cy="658368"/>
          </a:xfrm>
          <a:prstGeom prst="rect">
            <a:avLst/>
          </a:prstGeom>
          <a:noFill/>
        </p:spPr>
        <p:txBody>
          <a:bodyPr wrap="square" lIns="0" tIns="0" rIns="0" bIns="0" rtlCol="0" anchor="ctr"/>
          <a:lstStyle/>
          <a:p>
            <a:pPr marL="0" indent="0">
              <a:buNone/>
            </a:pPr>
            <a:r>
              <a:rPr lang="en-US" sz="1050" dirty="0">
                <a:solidFill>
                  <a:srgbClr val="8899AA"/>
                </a:solidFill>
              </a:rPr>
              <a:t>X-ray machines, CT scanners, and explosive trace detection systems</a:t>
            </a:r>
            <a:endParaRPr lang="en-US" sz="1050" dirty="0"/>
          </a:p>
        </p:txBody>
      </p:sp>
      <p:sp>
        <p:nvSpPr>
          <p:cNvPr id="20" name="Shape 18"/>
          <p:cNvSpPr/>
          <p:nvPr/>
        </p:nvSpPr>
        <p:spPr>
          <a:xfrm>
            <a:off x="4663440" y="2194560"/>
            <a:ext cx="4206240" cy="1188720"/>
          </a:xfrm>
          <a:prstGeom prst="rect">
            <a:avLst/>
          </a:prstGeom>
          <a:solidFill>
            <a:srgbClr val="FFFFFF"/>
          </a:solidFill>
          <a:effectLst>
            <a:outerShdw blurRad="63500" dist="25400" dir="8100000" algn="bl" rotWithShape="0">
              <a:srgbClr val="000000">
                <a:alpha val="12000"/>
              </a:srgbClr>
            </a:outerShdw>
          </a:effectLst>
        </p:spPr>
      </p:sp>
      <p:sp>
        <p:nvSpPr>
          <p:cNvPr id="21" name="Shape 19"/>
          <p:cNvSpPr/>
          <p:nvPr/>
        </p:nvSpPr>
        <p:spPr>
          <a:xfrm>
            <a:off x="4663440" y="2194560"/>
            <a:ext cx="91440" cy="1188720"/>
          </a:xfrm>
          <a:prstGeom prst="rect">
            <a:avLst/>
          </a:prstGeom>
          <a:solidFill>
            <a:srgbClr val="4A148C"/>
          </a:solidFill>
        </p:spPr>
      </p:sp>
      <p:sp>
        <p:nvSpPr>
          <p:cNvPr id="22" name="Text 20"/>
          <p:cNvSpPr/>
          <p:nvPr/>
        </p:nvSpPr>
        <p:spPr>
          <a:xfrm>
            <a:off x="4846320" y="2304288"/>
            <a:ext cx="457200" cy="320040"/>
          </a:xfrm>
          <a:prstGeom prst="rect">
            <a:avLst/>
          </a:prstGeom>
          <a:noFill/>
        </p:spPr>
        <p:txBody>
          <a:bodyPr wrap="square" lIns="0" tIns="0" rIns="0" bIns="0" rtlCol="0" anchor="ctr"/>
          <a:lstStyle/>
          <a:p>
            <a:pPr marL="0" indent="0">
              <a:buNone/>
            </a:pPr>
            <a:r>
              <a:rPr lang="en-US" sz="2000" b="1" dirty="0">
                <a:solidFill>
                  <a:srgbClr val="4A148C"/>
                </a:solidFill>
              </a:rPr>
              <a:t>04</a:t>
            </a:r>
            <a:endParaRPr lang="en-US" sz="2000" dirty="0"/>
          </a:p>
        </p:txBody>
      </p:sp>
      <p:sp>
        <p:nvSpPr>
          <p:cNvPr id="23" name="Text 21"/>
          <p:cNvSpPr/>
          <p:nvPr/>
        </p:nvSpPr>
        <p:spPr>
          <a:xfrm>
            <a:off x="5349240" y="2304288"/>
            <a:ext cx="3383280" cy="274320"/>
          </a:xfrm>
          <a:prstGeom prst="rect">
            <a:avLst/>
          </a:prstGeom>
          <a:noFill/>
        </p:spPr>
        <p:txBody>
          <a:bodyPr wrap="square" lIns="0" tIns="0" rIns="0" bIns="0" rtlCol="0" anchor="ctr"/>
          <a:lstStyle/>
          <a:p>
            <a:pPr marL="0" indent="0">
              <a:buNone/>
            </a:pPr>
            <a:r>
              <a:rPr lang="en-US" sz="1300" b="1" dirty="0">
                <a:solidFill>
                  <a:srgbClr val="2D3748"/>
                </a:solidFill>
              </a:rPr>
              <a:t>Air Traffic Control</a:t>
            </a:r>
            <a:endParaRPr lang="en-US" sz="1300" dirty="0"/>
          </a:p>
        </p:txBody>
      </p:sp>
      <p:sp>
        <p:nvSpPr>
          <p:cNvPr id="24" name="Text 22"/>
          <p:cNvSpPr/>
          <p:nvPr/>
        </p:nvSpPr>
        <p:spPr>
          <a:xfrm>
            <a:off x="5349240" y="2651760"/>
            <a:ext cx="3383280" cy="658368"/>
          </a:xfrm>
          <a:prstGeom prst="rect">
            <a:avLst/>
          </a:prstGeom>
          <a:noFill/>
        </p:spPr>
        <p:txBody>
          <a:bodyPr wrap="square" lIns="0" tIns="0" rIns="0" bIns="0" rtlCol="0" anchor="ctr"/>
          <a:lstStyle/>
          <a:p>
            <a:pPr marL="0" indent="0">
              <a:buNone/>
            </a:pPr>
            <a:r>
              <a:rPr lang="en-US" sz="1050" dirty="0">
                <a:solidFill>
                  <a:srgbClr val="8899AA"/>
                </a:solidFill>
              </a:rPr>
              <a:t>Real-time monitoring and coordination of all aircraft in controlled airspace</a:t>
            </a:r>
            <a:endParaRPr lang="en-US" sz="1050" dirty="0"/>
          </a:p>
        </p:txBody>
      </p:sp>
      <p:sp>
        <p:nvSpPr>
          <p:cNvPr id="25" name="Shape 23"/>
          <p:cNvSpPr/>
          <p:nvPr/>
        </p:nvSpPr>
        <p:spPr>
          <a:xfrm>
            <a:off x="228600" y="3566160"/>
            <a:ext cx="4206240" cy="1188720"/>
          </a:xfrm>
          <a:prstGeom prst="rect">
            <a:avLst/>
          </a:prstGeom>
          <a:solidFill>
            <a:srgbClr val="FFFFFF"/>
          </a:solidFill>
          <a:effectLst>
            <a:outerShdw blurRad="63500" dist="25400" dir="8100000" algn="bl" rotWithShape="0">
              <a:srgbClr val="000000">
                <a:alpha val="12000"/>
              </a:srgbClr>
            </a:outerShdw>
          </a:effectLst>
        </p:spPr>
      </p:sp>
      <p:sp>
        <p:nvSpPr>
          <p:cNvPr id="26" name="Shape 24"/>
          <p:cNvSpPr/>
          <p:nvPr/>
        </p:nvSpPr>
        <p:spPr>
          <a:xfrm>
            <a:off x="228600" y="3566160"/>
            <a:ext cx="91440" cy="1188720"/>
          </a:xfrm>
          <a:prstGeom prst="rect">
            <a:avLst/>
          </a:prstGeom>
          <a:solidFill>
            <a:srgbClr val="BF360C"/>
          </a:solidFill>
        </p:spPr>
      </p:sp>
      <p:sp>
        <p:nvSpPr>
          <p:cNvPr id="27" name="Text 25"/>
          <p:cNvSpPr/>
          <p:nvPr/>
        </p:nvSpPr>
        <p:spPr>
          <a:xfrm>
            <a:off x="411480" y="3675888"/>
            <a:ext cx="457200" cy="320040"/>
          </a:xfrm>
          <a:prstGeom prst="rect">
            <a:avLst/>
          </a:prstGeom>
          <a:noFill/>
        </p:spPr>
        <p:txBody>
          <a:bodyPr wrap="square" lIns="0" tIns="0" rIns="0" bIns="0" rtlCol="0" anchor="ctr"/>
          <a:lstStyle/>
          <a:p>
            <a:pPr marL="0" indent="0">
              <a:buNone/>
            </a:pPr>
            <a:r>
              <a:rPr lang="en-US" sz="2000" b="1" dirty="0">
                <a:solidFill>
                  <a:srgbClr val="BF360C"/>
                </a:solidFill>
              </a:rPr>
              <a:t>05</a:t>
            </a:r>
            <a:endParaRPr lang="en-US" sz="2000" dirty="0"/>
          </a:p>
        </p:txBody>
      </p:sp>
      <p:sp>
        <p:nvSpPr>
          <p:cNvPr id="28" name="Text 26"/>
          <p:cNvSpPr/>
          <p:nvPr/>
        </p:nvSpPr>
        <p:spPr>
          <a:xfrm>
            <a:off x="914400" y="3675888"/>
            <a:ext cx="3383280" cy="274320"/>
          </a:xfrm>
          <a:prstGeom prst="rect">
            <a:avLst/>
          </a:prstGeom>
          <a:noFill/>
        </p:spPr>
        <p:txBody>
          <a:bodyPr wrap="square" lIns="0" tIns="0" rIns="0" bIns="0" rtlCol="0" anchor="ctr"/>
          <a:lstStyle/>
          <a:p>
            <a:pPr marL="0" indent="0">
              <a:buNone/>
            </a:pPr>
            <a:r>
              <a:rPr lang="en-US" sz="1300" b="1" dirty="0">
                <a:solidFill>
                  <a:srgbClr val="2D3748"/>
                </a:solidFill>
              </a:rPr>
              <a:t>Cargo Security</a:t>
            </a:r>
            <a:endParaRPr lang="en-US" sz="1300" dirty="0"/>
          </a:p>
        </p:txBody>
      </p:sp>
      <p:sp>
        <p:nvSpPr>
          <p:cNvPr id="29" name="Text 27"/>
          <p:cNvSpPr/>
          <p:nvPr/>
        </p:nvSpPr>
        <p:spPr>
          <a:xfrm>
            <a:off x="914400" y="4023360"/>
            <a:ext cx="3383280" cy="658368"/>
          </a:xfrm>
          <a:prstGeom prst="rect">
            <a:avLst/>
          </a:prstGeom>
          <a:noFill/>
        </p:spPr>
        <p:txBody>
          <a:bodyPr wrap="square" lIns="0" tIns="0" rIns="0" bIns="0" rtlCol="0" anchor="ctr"/>
          <a:lstStyle/>
          <a:p>
            <a:pPr marL="0" indent="0">
              <a:buNone/>
            </a:pPr>
            <a:r>
              <a:rPr lang="en-US" sz="1050" dirty="0">
                <a:solidFill>
                  <a:srgbClr val="8899AA"/>
                </a:solidFill>
              </a:rPr>
              <a:t>Inspection and certification of all freight, mail, and cargo items</a:t>
            </a:r>
            <a:endParaRPr lang="en-US" sz="1050" dirty="0"/>
          </a:p>
        </p:txBody>
      </p:sp>
      <p:sp>
        <p:nvSpPr>
          <p:cNvPr id="30" name="Shape 28"/>
          <p:cNvSpPr/>
          <p:nvPr/>
        </p:nvSpPr>
        <p:spPr>
          <a:xfrm>
            <a:off x="4663440" y="3566160"/>
            <a:ext cx="4206240" cy="1188720"/>
          </a:xfrm>
          <a:prstGeom prst="rect">
            <a:avLst/>
          </a:prstGeom>
          <a:solidFill>
            <a:srgbClr val="FFFFFF"/>
          </a:solidFill>
          <a:effectLst>
            <a:outerShdw blurRad="63500" dist="25400" dir="8100000" algn="bl" rotWithShape="0">
              <a:srgbClr val="000000">
                <a:alpha val="12000"/>
              </a:srgbClr>
            </a:outerShdw>
          </a:effectLst>
        </p:spPr>
      </p:sp>
      <p:sp>
        <p:nvSpPr>
          <p:cNvPr id="31" name="Shape 29"/>
          <p:cNvSpPr/>
          <p:nvPr/>
        </p:nvSpPr>
        <p:spPr>
          <a:xfrm>
            <a:off x="4663440" y="3566160"/>
            <a:ext cx="91440" cy="1188720"/>
          </a:xfrm>
          <a:prstGeom prst="rect">
            <a:avLst/>
          </a:prstGeom>
          <a:solidFill>
            <a:srgbClr val="1B5E20"/>
          </a:solidFill>
        </p:spPr>
      </p:sp>
      <p:sp>
        <p:nvSpPr>
          <p:cNvPr id="32" name="Text 30"/>
          <p:cNvSpPr/>
          <p:nvPr/>
        </p:nvSpPr>
        <p:spPr>
          <a:xfrm>
            <a:off x="4846320" y="3675888"/>
            <a:ext cx="457200" cy="320040"/>
          </a:xfrm>
          <a:prstGeom prst="rect">
            <a:avLst/>
          </a:prstGeom>
          <a:noFill/>
        </p:spPr>
        <p:txBody>
          <a:bodyPr wrap="square" lIns="0" tIns="0" rIns="0" bIns="0" rtlCol="0" anchor="ctr"/>
          <a:lstStyle/>
          <a:p>
            <a:pPr marL="0" indent="0">
              <a:buNone/>
            </a:pPr>
            <a:r>
              <a:rPr lang="en-US" sz="2000" b="1" dirty="0">
                <a:solidFill>
                  <a:srgbClr val="1B5E20"/>
                </a:solidFill>
              </a:rPr>
              <a:t>06</a:t>
            </a:r>
            <a:endParaRPr lang="en-US" sz="2000" dirty="0"/>
          </a:p>
        </p:txBody>
      </p:sp>
      <p:sp>
        <p:nvSpPr>
          <p:cNvPr id="33" name="Text 31"/>
          <p:cNvSpPr/>
          <p:nvPr/>
        </p:nvSpPr>
        <p:spPr>
          <a:xfrm>
            <a:off x="5349240" y="3675888"/>
            <a:ext cx="3383280" cy="274320"/>
          </a:xfrm>
          <a:prstGeom prst="rect">
            <a:avLst/>
          </a:prstGeom>
          <a:noFill/>
        </p:spPr>
        <p:txBody>
          <a:bodyPr wrap="square" lIns="0" tIns="0" rIns="0" bIns="0" rtlCol="0" anchor="ctr"/>
          <a:lstStyle/>
          <a:p>
            <a:pPr marL="0" indent="0">
              <a:buNone/>
            </a:pPr>
            <a:r>
              <a:rPr lang="en-US" sz="1300" b="1" dirty="0">
                <a:solidFill>
                  <a:srgbClr val="2D3748"/>
                </a:solidFill>
              </a:rPr>
              <a:t>Cybersecurity</a:t>
            </a:r>
            <a:endParaRPr lang="en-US" sz="1300" dirty="0"/>
          </a:p>
        </p:txBody>
      </p:sp>
      <p:sp>
        <p:nvSpPr>
          <p:cNvPr id="34" name="Text 32"/>
          <p:cNvSpPr/>
          <p:nvPr/>
        </p:nvSpPr>
        <p:spPr>
          <a:xfrm>
            <a:off x="5349240" y="4023360"/>
            <a:ext cx="3383280" cy="658368"/>
          </a:xfrm>
          <a:prstGeom prst="rect">
            <a:avLst/>
          </a:prstGeom>
          <a:noFill/>
        </p:spPr>
        <p:txBody>
          <a:bodyPr wrap="square" lIns="0" tIns="0" rIns="0" bIns="0" rtlCol="0" anchor="ctr"/>
          <a:lstStyle/>
          <a:p>
            <a:pPr marL="0" indent="0">
              <a:buNone/>
            </a:pPr>
            <a:r>
              <a:rPr lang="en-US" sz="1050" dirty="0">
                <a:solidFill>
                  <a:srgbClr val="8899AA"/>
                </a:solidFill>
              </a:rPr>
              <a:t>Protection of digital systems, communication networks, and navigation systems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2833"/>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PASSENGER SCREENING PROCESS</a:t>
            </a:r>
            <a:endParaRPr lang="en-US" sz="2200" dirty="0"/>
          </a:p>
        </p:txBody>
      </p:sp>
      <p:pic>
        <p:nvPicPr>
          <p:cNvPr id="5" name="Image 0" descr="https://images.unsplash.com/photo-1584134239909-eb3d28ef9cfe?w=700&amp;q=80"/>
          <p:cNvPicPr>
            <a:picLocks noChangeAspect="1"/>
          </p:cNvPicPr>
          <p:nvPr/>
        </p:nvPicPr>
        <p:blipFill>
          <a:blip r:embed="rId1"/>
          <a:srcRect/>
          <a:stretch>
            <a:fillRect/>
          </a:stretch>
        </p:blipFill>
        <p:spPr>
          <a:xfrm>
            <a:off x="228600" y="822960"/>
            <a:ext cx="3200400" cy="3840480"/>
          </a:xfrm>
          <a:prstGeom prst="rect">
            <a:avLst/>
          </a:prstGeom>
        </p:spPr>
      </p:pic>
      <p:sp>
        <p:nvSpPr>
          <p:cNvPr id="6" name="Shape 3"/>
          <p:cNvSpPr/>
          <p:nvPr/>
        </p:nvSpPr>
        <p:spPr>
          <a:xfrm>
            <a:off x="3429000" y="822960"/>
            <a:ext cx="54864" cy="3840480"/>
          </a:xfrm>
          <a:prstGeom prst="rect">
            <a:avLst/>
          </a:prstGeom>
          <a:solidFill>
            <a:srgbClr val="2196F3"/>
          </a:solidFill>
        </p:spPr>
      </p:sp>
      <p:sp>
        <p:nvSpPr>
          <p:cNvPr id="7" name="Shape 4"/>
          <p:cNvSpPr/>
          <p:nvPr/>
        </p:nvSpPr>
        <p:spPr>
          <a:xfrm>
            <a:off x="3657600" y="914400"/>
            <a:ext cx="365760" cy="365760"/>
          </a:xfrm>
          <a:prstGeom prst="ellipse">
            <a:avLst/>
          </a:prstGeom>
          <a:solidFill>
            <a:srgbClr val="2196F3"/>
          </a:solidFill>
        </p:spPr>
      </p:sp>
      <p:sp>
        <p:nvSpPr>
          <p:cNvPr id="8" name="Text 5"/>
          <p:cNvSpPr/>
          <p:nvPr/>
        </p:nvSpPr>
        <p:spPr>
          <a:xfrm>
            <a:off x="3657600" y="923544"/>
            <a:ext cx="365760" cy="338328"/>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9" name="Text 6"/>
          <p:cNvSpPr/>
          <p:nvPr/>
        </p:nvSpPr>
        <p:spPr>
          <a:xfrm>
            <a:off x="4160520" y="868680"/>
            <a:ext cx="4754880" cy="256032"/>
          </a:xfrm>
          <a:prstGeom prst="rect">
            <a:avLst/>
          </a:prstGeom>
          <a:noFill/>
        </p:spPr>
        <p:txBody>
          <a:bodyPr wrap="square" lIns="0" tIns="0" rIns="0" bIns="0" rtlCol="0" anchor="ctr"/>
          <a:lstStyle/>
          <a:p>
            <a:pPr marL="0" indent="0">
              <a:buNone/>
            </a:pPr>
            <a:r>
              <a:rPr lang="en-US" sz="1200" b="1" dirty="0">
                <a:solidFill>
                  <a:srgbClr val="FFFFFF"/>
                </a:solidFill>
              </a:rPr>
              <a:t>Document Verification</a:t>
            </a:r>
            <a:endParaRPr lang="en-US" sz="1200" dirty="0"/>
          </a:p>
        </p:txBody>
      </p:sp>
      <p:sp>
        <p:nvSpPr>
          <p:cNvPr id="10" name="Text 7"/>
          <p:cNvSpPr/>
          <p:nvPr/>
        </p:nvSpPr>
        <p:spPr>
          <a:xfrm>
            <a:off x="4160520" y="1143000"/>
            <a:ext cx="4754880" cy="365760"/>
          </a:xfrm>
          <a:prstGeom prst="rect">
            <a:avLst/>
          </a:prstGeom>
          <a:noFill/>
        </p:spPr>
        <p:txBody>
          <a:bodyPr wrap="square" lIns="0" tIns="0" rIns="0" bIns="0" rtlCol="0" anchor="ctr"/>
          <a:lstStyle/>
          <a:p>
            <a:pPr marL="0" indent="0">
              <a:buNone/>
            </a:pPr>
            <a:r>
              <a:rPr lang="en-US" sz="1000" dirty="0">
                <a:solidFill>
                  <a:srgbClr val="BBDEFB"/>
                </a:solidFill>
              </a:rPr>
              <a:t>Passport, boarding pass &amp; biometric identity check</a:t>
            </a:r>
            <a:endParaRPr lang="en-US" sz="1000" dirty="0"/>
          </a:p>
        </p:txBody>
      </p:sp>
      <p:sp>
        <p:nvSpPr>
          <p:cNvPr id="11" name="Shape 8"/>
          <p:cNvSpPr/>
          <p:nvPr/>
        </p:nvSpPr>
        <p:spPr>
          <a:xfrm>
            <a:off x="3813048" y="1280160"/>
            <a:ext cx="54864" cy="411480"/>
          </a:xfrm>
          <a:prstGeom prst="rect">
            <a:avLst/>
          </a:prstGeom>
          <a:solidFill>
            <a:srgbClr val="1E6091"/>
          </a:solidFill>
        </p:spPr>
      </p:sp>
      <p:sp>
        <p:nvSpPr>
          <p:cNvPr id="12" name="Shape 9"/>
          <p:cNvSpPr/>
          <p:nvPr/>
        </p:nvSpPr>
        <p:spPr>
          <a:xfrm>
            <a:off x="3657600" y="1673352"/>
            <a:ext cx="365760" cy="365760"/>
          </a:xfrm>
          <a:prstGeom prst="ellipse">
            <a:avLst/>
          </a:prstGeom>
          <a:solidFill>
            <a:srgbClr val="2196F3"/>
          </a:solidFill>
        </p:spPr>
      </p:sp>
      <p:sp>
        <p:nvSpPr>
          <p:cNvPr id="13" name="Text 10"/>
          <p:cNvSpPr/>
          <p:nvPr/>
        </p:nvSpPr>
        <p:spPr>
          <a:xfrm>
            <a:off x="3657600" y="1682496"/>
            <a:ext cx="365760" cy="338328"/>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4" name="Text 11"/>
          <p:cNvSpPr/>
          <p:nvPr/>
        </p:nvSpPr>
        <p:spPr>
          <a:xfrm>
            <a:off x="4160520" y="1627632"/>
            <a:ext cx="4754880" cy="256032"/>
          </a:xfrm>
          <a:prstGeom prst="rect">
            <a:avLst/>
          </a:prstGeom>
          <a:noFill/>
        </p:spPr>
        <p:txBody>
          <a:bodyPr wrap="square" lIns="0" tIns="0" rIns="0" bIns="0" rtlCol="0" anchor="ctr"/>
          <a:lstStyle/>
          <a:p>
            <a:pPr marL="0" indent="0">
              <a:buNone/>
            </a:pPr>
            <a:r>
              <a:rPr lang="en-US" sz="1200" b="1" dirty="0">
                <a:solidFill>
                  <a:srgbClr val="FFFFFF"/>
                </a:solidFill>
              </a:rPr>
              <a:t>Personal Belongings Removal</a:t>
            </a:r>
            <a:endParaRPr lang="en-US" sz="1200" dirty="0"/>
          </a:p>
        </p:txBody>
      </p:sp>
      <p:sp>
        <p:nvSpPr>
          <p:cNvPr id="15" name="Text 12"/>
          <p:cNvSpPr/>
          <p:nvPr/>
        </p:nvSpPr>
        <p:spPr>
          <a:xfrm>
            <a:off x="4160520" y="1901952"/>
            <a:ext cx="4754880" cy="365760"/>
          </a:xfrm>
          <a:prstGeom prst="rect">
            <a:avLst/>
          </a:prstGeom>
          <a:noFill/>
        </p:spPr>
        <p:txBody>
          <a:bodyPr wrap="square" lIns="0" tIns="0" rIns="0" bIns="0" rtlCol="0" anchor="ctr"/>
          <a:lstStyle/>
          <a:p>
            <a:pPr marL="0" indent="0">
              <a:buNone/>
            </a:pPr>
            <a:r>
              <a:rPr lang="en-US" sz="1000" dirty="0">
                <a:solidFill>
                  <a:srgbClr val="BBDEFB"/>
                </a:solidFill>
              </a:rPr>
              <a:t>Electronics, liquids &amp; metal items placed in trays</a:t>
            </a:r>
            <a:endParaRPr lang="en-US" sz="1000" dirty="0"/>
          </a:p>
        </p:txBody>
      </p:sp>
      <p:sp>
        <p:nvSpPr>
          <p:cNvPr id="16" name="Shape 13"/>
          <p:cNvSpPr/>
          <p:nvPr/>
        </p:nvSpPr>
        <p:spPr>
          <a:xfrm>
            <a:off x="3813048" y="2039112"/>
            <a:ext cx="54864" cy="411480"/>
          </a:xfrm>
          <a:prstGeom prst="rect">
            <a:avLst/>
          </a:prstGeom>
          <a:solidFill>
            <a:srgbClr val="1E6091"/>
          </a:solidFill>
        </p:spPr>
      </p:sp>
      <p:sp>
        <p:nvSpPr>
          <p:cNvPr id="17" name="Shape 14"/>
          <p:cNvSpPr/>
          <p:nvPr/>
        </p:nvSpPr>
        <p:spPr>
          <a:xfrm>
            <a:off x="3657600" y="2432304"/>
            <a:ext cx="365760" cy="365760"/>
          </a:xfrm>
          <a:prstGeom prst="ellipse">
            <a:avLst/>
          </a:prstGeom>
          <a:solidFill>
            <a:srgbClr val="2196F3"/>
          </a:solidFill>
        </p:spPr>
      </p:sp>
      <p:sp>
        <p:nvSpPr>
          <p:cNvPr id="18" name="Text 15"/>
          <p:cNvSpPr/>
          <p:nvPr/>
        </p:nvSpPr>
        <p:spPr>
          <a:xfrm>
            <a:off x="3657600" y="2441448"/>
            <a:ext cx="365760" cy="338328"/>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Text 16"/>
          <p:cNvSpPr/>
          <p:nvPr/>
        </p:nvSpPr>
        <p:spPr>
          <a:xfrm>
            <a:off x="4160520" y="2386584"/>
            <a:ext cx="4754880" cy="256032"/>
          </a:xfrm>
          <a:prstGeom prst="rect">
            <a:avLst/>
          </a:prstGeom>
          <a:noFill/>
        </p:spPr>
        <p:txBody>
          <a:bodyPr wrap="square" lIns="0" tIns="0" rIns="0" bIns="0" rtlCol="0" anchor="ctr"/>
          <a:lstStyle/>
          <a:p>
            <a:pPr marL="0" indent="0">
              <a:buNone/>
            </a:pPr>
            <a:r>
              <a:rPr lang="en-US" sz="1200" b="1" dirty="0">
                <a:solidFill>
                  <a:srgbClr val="FFFFFF"/>
                </a:solidFill>
              </a:rPr>
              <a:t>Walk-Through Metal Detector</a:t>
            </a:r>
            <a:endParaRPr lang="en-US" sz="1200" dirty="0"/>
          </a:p>
        </p:txBody>
      </p:sp>
      <p:sp>
        <p:nvSpPr>
          <p:cNvPr id="20" name="Text 17"/>
          <p:cNvSpPr/>
          <p:nvPr/>
        </p:nvSpPr>
        <p:spPr>
          <a:xfrm>
            <a:off x="4160520" y="2660904"/>
            <a:ext cx="4754880" cy="365760"/>
          </a:xfrm>
          <a:prstGeom prst="rect">
            <a:avLst/>
          </a:prstGeom>
          <a:noFill/>
        </p:spPr>
        <p:txBody>
          <a:bodyPr wrap="square" lIns="0" tIns="0" rIns="0" bIns="0" rtlCol="0" anchor="ctr"/>
          <a:lstStyle/>
          <a:p>
            <a:pPr marL="0" indent="0">
              <a:buNone/>
            </a:pPr>
            <a:r>
              <a:rPr lang="en-US" sz="1000" dirty="0">
                <a:solidFill>
                  <a:srgbClr val="BBDEFB"/>
                </a:solidFill>
              </a:rPr>
              <a:t>Detects metallic threats on the person</a:t>
            </a:r>
            <a:endParaRPr lang="en-US" sz="1000" dirty="0"/>
          </a:p>
        </p:txBody>
      </p:sp>
      <p:sp>
        <p:nvSpPr>
          <p:cNvPr id="21" name="Shape 18"/>
          <p:cNvSpPr/>
          <p:nvPr/>
        </p:nvSpPr>
        <p:spPr>
          <a:xfrm>
            <a:off x="3813048" y="2798064"/>
            <a:ext cx="54864" cy="411480"/>
          </a:xfrm>
          <a:prstGeom prst="rect">
            <a:avLst/>
          </a:prstGeom>
          <a:solidFill>
            <a:srgbClr val="1E6091"/>
          </a:solidFill>
        </p:spPr>
      </p:sp>
      <p:sp>
        <p:nvSpPr>
          <p:cNvPr id="22" name="Shape 19"/>
          <p:cNvSpPr/>
          <p:nvPr/>
        </p:nvSpPr>
        <p:spPr>
          <a:xfrm>
            <a:off x="3657600" y="3191256"/>
            <a:ext cx="365760" cy="365760"/>
          </a:xfrm>
          <a:prstGeom prst="ellipse">
            <a:avLst/>
          </a:prstGeom>
          <a:solidFill>
            <a:srgbClr val="2196F3"/>
          </a:solidFill>
        </p:spPr>
      </p:sp>
      <p:sp>
        <p:nvSpPr>
          <p:cNvPr id="23" name="Text 20"/>
          <p:cNvSpPr/>
          <p:nvPr/>
        </p:nvSpPr>
        <p:spPr>
          <a:xfrm>
            <a:off x="3657600" y="3200400"/>
            <a:ext cx="365760" cy="338328"/>
          </a:xfrm>
          <a:prstGeom prst="rect">
            <a:avLst/>
          </a:prstGeom>
          <a:noFill/>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4" name="Text 21"/>
          <p:cNvSpPr/>
          <p:nvPr/>
        </p:nvSpPr>
        <p:spPr>
          <a:xfrm>
            <a:off x="4160520" y="3145536"/>
            <a:ext cx="4754880" cy="256032"/>
          </a:xfrm>
          <a:prstGeom prst="rect">
            <a:avLst/>
          </a:prstGeom>
          <a:noFill/>
        </p:spPr>
        <p:txBody>
          <a:bodyPr wrap="square" lIns="0" tIns="0" rIns="0" bIns="0" rtlCol="0" anchor="ctr"/>
          <a:lstStyle/>
          <a:p>
            <a:pPr marL="0" indent="0">
              <a:buNone/>
            </a:pPr>
            <a:r>
              <a:rPr lang="en-US" sz="1200" b="1" dirty="0">
                <a:solidFill>
                  <a:srgbClr val="FFFFFF"/>
                </a:solidFill>
              </a:rPr>
              <a:t>Advanced Imaging Technology</a:t>
            </a:r>
            <a:endParaRPr lang="en-US" sz="1200" dirty="0"/>
          </a:p>
        </p:txBody>
      </p:sp>
      <p:sp>
        <p:nvSpPr>
          <p:cNvPr id="25" name="Text 22"/>
          <p:cNvSpPr/>
          <p:nvPr/>
        </p:nvSpPr>
        <p:spPr>
          <a:xfrm>
            <a:off x="4160520" y="3419856"/>
            <a:ext cx="4754880" cy="365760"/>
          </a:xfrm>
          <a:prstGeom prst="rect">
            <a:avLst/>
          </a:prstGeom>
          <a:noFill/>
        </p:spPr>
        <p:txBody>
          <a:bodyPr wrap="square" lIns="0" tIns="0" rIns="0" bIns="0" rtlCol="0" anchor="ctr"/>
          <a:lstStyle/>
          <a:p>
            <a:pPr marL="0" indent="0">
              <a:buNone/>
            </a:pPr>
            <a:r>
              <a:rPr lang="en-US" sz="1000" dirty="0">
                <a:solidFill>
                  <a:srgbClr val="BBDEFB"/>
                </a:solidFill>
              </a:rPr>
              <a:t>Full-body millimeter wave scanner reveals concealed items</a:t>
            </a:r>
            <a:endParaRPr lang="en-US" sz="1000" dirty="0"/>
          </a:p>
        </p:txBody>
      </p:sp>
      <p:sp>
        <p:nvSpPr>
          <p:cNvPr id="26" name="Shape 23"/>
          <p:cNvSpPr/>
          <p:nvPr/>
        </p:nvSpPr>
        <p:spPr>
          <a:xfrm>
            <a:off x="3813048" y="3557016"/>
            <a:ext cx="54864" cy="411480"/>
          </a:xfrm>
          <a:prstGeom prst="rect">
            <a:avLst/>
          </a:prstGeom>
          <a:solidFill>
            <a:srgbClr val="1E6091"/>
          </a:solidFill>
        </p:spPr>
      </p:sp>
      <p:sp>
        <p:nvSpPr>
          <p:cNvPr id="27" name="Shape 24"/>
          <p:cNvSpPr/>
          <p:nvPr/>
        </p:nvSpPr>
        <p:spPr>
          <a:xfrm>
            <a:off x="3657600" y="3950208"/>
            <a:ext cx="365760" cy="365760"/>
          </a:xfrm>
          <a:prstGeom prst="ellipse">
            <a:avLst/>
          </a:prstGeom>
          <a:solidFill>
            <a:srgbClr val="2196F3"/>
          </a:solidFill>
        </p:spPr>
      </p:sp>
      <p:sp>
        <p:nvSpPr>
          <p:cNvPr id="28" name="Text 25"/>
          <p:cNvSpPr/>
          <p:nvPr/>
        </p:nvSpPr>
        <p:spPr>
          <a:xfrm>
            <a:off x="3657600" y="3959352"/>
            <a:ext cx="365760" cy="338328"/>
          </a:xfrm>
          <a:prstGeom prst="rect">
            <a:avLst/>
          </a:prstGeom>
          <a:noFill/>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9" name="Text 26"/>
          <p:cNvSpPr/>
          <p:nvPr/>
        </p:nvSpPr>
        <p:spPr>
          <a:xfrm>
            <a:off x="4160520" y="3904488"/>
            <a:ext cx="4754880" cy="256032"/>
          </a:xfrm>
          <a:prstGeom prst="rect">
            <a:avLst/>
          </a:prstGeom>
          <a:noFill/>
        </p:spPr>
        <p:txBody>
          <a:bodyPr wrap="square" lIns="0" tIns="0" rIns="0" bIns="0" rtlCol="0" anchor="ctr"/>
          <a:lstStyle/>
          <a:p>
            <a:pPr marL="0" indent="0">
              <a:buNone/>
            </a:pPr>
            <a:r>
              <a:rPr lang="en-US" sz="1200" b="1" dirty="0">
                <a:solidFill>
                  <a:srgbClr val="FFFFFF"/>
                </a:solidFill>
              </a:rPr>
              <a:t>Pat-Down Inspection</a:t>
            </a:r>
            <a:endParaRPr lang="en-US" sz="1200" dirty="0"/>
          </a:p>
        </p:txBody>
      </p:sp>
      <p:sp>
        <p:nvSpPr>
          <p:cNvPr id="30" name="Text 27"/>
          <p:cNvSpPr/>
          <p:nvPr/>
        </p:nvSpPr>
        <p:spPr>
          <a:xfrm>
            <a:off x="4160520" y="4178808"/>
            <a:ext cx="4754880" cy="365760"/>
          </a:xfrm>
          <a:prstGeom prst="rect">
            <a:avLst/>
          </a:prstGeom>
          <a:noFill/>
        </p:spPr>
        <p:txBody>
          <a:bodyPr wrap="square" lIns="0" tIns="0" rIns="0" bIns="0" rtlCol="0" anchor="ctr"/>
          <a:lstStyle/>
          <a:p>
            <a:pPr marL="0" indent="0">
              <a:buNone/>
            </a:pPr>
            <a:r>
              <a:rPr lang="en-US" sz="1000" dirty="0">
                <a:solidFill>
                  <a:srgbClr val="BBDEFB"/>
                </a:solidFill>
              </a:rPr>
              <a:t>Manual secondary check when triggered by scanner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C5E"/>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000" b="1" dirty="0">
                <a:solidFill>
                  <a:srgbClr val="FFFFFF"/>
                </a:solidFill>
              </a:rPr>
              <a:t>BAGGAGE SCREENING &amp; X-RAY SYSTEMS</a:t>
            </a:r>
            <a:endParaRPr lang="en-US" sz="2000" dirty="0"/>
          </a:p>
        </p:txBody>
      </p:sp>
      <p:pic>
        <p:nvPicPr>
          <p:cNvPr id="5" name="Image 0" descr="https://images.unsplash.com/photo-1606768666853-403c90a981ad?w=700&amp;q=80"/>
          <p:cNvPicPr>
            <a:picLocks noChangeAspect="1"/>
          </p:cNvPicPr>
          <p:nvPr/>
        </p:nvPicPr>
        <p:blipFill>
          <a:blip r:embed="rId1"/>
          <a:srcRect/>
          <a:stretch>
            <a:fillRect/>
          </a:stretch>
        </p:blipFill>
        <p:spPr>
          <a:xfrm>
            <a:off x="5212080" y="777240"/>
            <a:ext cx="3657600" cy="2743200"/>
          </a:xfrm>
          <a:prstGeom prst="rect">
            <a:avLst/>
          </a:prstGeom>
        </p:spPr>
      </p:pic>
      <p:sp>
        <p:nvSpPr>
          <p:cNvPr id="6" name="Text 3"/>
          <p:cNvSpPr/>
          <p:nvPr/>
        </p:nvSpPr>
        <p:spPr>
          <a:xfrm>
            <a:off x="274320" y="822960"/>
            <a:ext cx="4572000" cy="365760"/>
          </a:xfrm>
          <a:prstGeom prst="rect">
            <a:avLst/>
          </a:prstGeom>
          <a:noFill/>
        </p:spPr>
        <p:txBody>
          <a:bodyPr wrap="square" lIns="0" tIns="0" rIns="0" bIns="0" rtlCol="0" anchor="ctr"/>
          <a:lstStyle/>
          <a:p>
            <a:pPr marL="0" indent="0">
              <a:buNone/>
            </a:pPr>
            <a:r>
              <a:rPr lang="en-US" sz="1600" b="1" dirty="0">
                <a:solidFill>
                  <a:srgbClr val="1A3C5E"/>
                </a:solidFill>
              </a:rPr>
              <a:t>Screening Technologies</a:t>
            </a:r>
            <a:endParaRPr lang="en-US" sz="1600" dirty="0"/>
          </a:p>
        </p:txBody>
      </p:sp>
      <p:sp>
        <p:nvSpPr>
          <p:cNvPr id="7" name="Shape 4"/>
          <p:cNvSpPr/>
          <p:nvPr/>
        </p:nvSpPr>
        <p:spPr>
          <a:xfrm>
            <a:off x="274320" y="1325880"/>
            <a:ext cx="54864" cy="502920"/>
          </a:xfrm>
          <a:prstGeom prst="rect">
            <a:avLst/>
          </a:prstGeom>
          <a:solidFill>
            <a:srgbClr val="2196F3"/>
          </a:solidFill>
        </p:spPr>
      </p:sp>
      <p:sp>
        <p:nvSpPr>
          <p:cNvPr id="8" name="Text 5"/>
          <p:cNvSpPr/>
          <p:nvPr/>
        </p:nvSpPr>
        <p:spPr>
          <a:xfrm>
            <a:off x="457200" y="1325880"/>
            <a:ext cx="4389120" cy="256032"/>
          </a:xfrm>
          <a:prstGeom prst="rect">
            <a:avLst/>
          </a:prstGeom>
          <a:noFill/>
        </p:spPr>
        <p:txBody>
          <a:bodyPr wrap="square" lIns="0" tIns="0" rIns="0" bIns="0" rtlCol="0" anchor="ctr"/>
          <a:lstStyle/>
          <a:p>
            <a:pPr marL="0" indent="0">
              <a:buNone/>
            </a:pPr>
            <a:r>
              <a:rPr lang="en-US" sz="1200" b="1" dirty="0">
                <a:solidFill>
                  <a:srgbClr val="2D3748"/>
                </a:solidFill>
              </a:rPr>
              <a:t>X-Ray Imaging</a:t>
            </a:r>
            <a:endParaRPr lang="en-US" sz="1200" dirty="0"/>
          </a:p>
        </p:txBody>
      </p:sp>
      <p:sp>
        <p:nvSpPr>
          <p:cNvPr id="9" name="Text 6"/>
          <p:cNvSpPr/>
          <p:nvPr/>
        </p:nvSpPr>
        <p:spPr>
          <a:xfrm>
            <a:off x="457200" y="1581912"/>
            <a:ext cx="4389120" cy="256032"/>
          </a:xfrm>
          <a:prstGeom prst="rect">
            <a:avLst/>
          </a:prstGeom>
          <a:noFill/>
        </p:spPr>
        <p:txBody>
          <a:bodyPr wrap="square" lIns="0" tIns="0" rIns="0" bIns="0" rtlCol="0" anchor="ctr"/>
          <a:lstStyle/>
          <a:p>
            <a:pPr marL="0" indent="0">
              <a:buNone/>
            </a:pPr>
            <a:r>
              <a:rPr lang="en-US" sz="1000" dirty="0">
                <a:solidFill>
                  <a:srgbClr val="8899AA"/>
                </a:solidFill>
              </a:rPr>
              <a:t>2D/3D baggage image analysis by trained operators</a:t>
            </a:r>
            <a:endParaRPr lang="en-US" sz="1000" dirty="0"/>
          </a:p>
        </p:txBody>
      </p:sp>
      <p:sp>
        <p:nvSpPr>
          <p:cNvPr id="10" name="Shape 7"/>
          <p:cNvSpPr/>
          <p:nvPr/>
        </p:nvSpPr>
        <p:spPr>
          <a:xfrm>
            <a:off x="274320" y="1984248"/>
            <a:ext cx="54864" cy="502920"/>
          </a:xfrm>
          <a:prstGeom prst="rect">
            <a:avLst/>
          </a:prstGeom>
          <a:solidFill>
            <a:srgbClr val="2196F3"/>
          </a:solidFill>
        </p:spPr>
      </p:sp>
      <p:sp>
        <p:nvSpPr>
          <p:cNvPr id="11" name="Text 8"/>
          <p:cNvSpPr/>
          <p:nvPr/>
        </p:nvSpPr>
        <p:spPr>
          <a:xfrm>
            <a:off x="457200" y="1984248"/>
            <a:ext cx="4389120" cy="256032"/>
          </a:xfrm>
          <a:prstGeom prst="rect">
            <a:avLst/>
          </a:prstGeom>
          <a:noFill/>
        </p:spPr>
        <p:txBody>
          <a:bodyPr wrap="square" lIns="0" tIns="0" rIns="0" bIns="0" rtlCol="0" anchor="ctr"/>
          <a:lstStyle/>
          <a:p>
            <a:pPr marL="0" indent="0">
              <a:buNone/>
            </a:pPr>
            <a:r>
              <a:rPr lang="en-US" sz="1200" b="1" dirty="0">
                <a:solidFill>
                  <a:srgbClr val="2D3748"/>
                </a:solidFill>
              </a:rPr>
              <a:t>CT Scanners</a:t>
            </a:r>
            <a:endParaRPr lang="en-US" sz="1200" dirty="0"/>
          </a:p>
        </p:txBody>
      </p:sp>
      <p:sp>
        <p:nvSpPr>
          <p:cNvPr id="12" name="Text 9"/>
          <p:cNvSpPr/>
          <p:nvPr/>
        </p:nvSpPr>
        <p:spPr>
          <a:xfrm>
            <a:off x="457200" y="2240280"/>
            <a:ext cx="4389120" cy="256032"/>
          </a:xfrm>
          <a:prstGeom prst="rect">
            <a:avLst/>
          </a:prstGeom>
          <a:noFill/>
        </p:spPr>
        <p:txBody>
          <a:bodyPr wrap="square" lIns="0" tIns="0" rIns="0" bIns="0" rtlCol="0" anchor="ctr"/>
          <a:lstStyle/>
          <a:p>
            <a:pPr marL="0" indent="0">
              <a:buNone/>
            </a:pPr>
            <a:r>
              <a:rPr lang="en-US" sz="1000" dirty="0">
                <a:solidFill>
                  <a:srgbClr val="8899AA"/>
                </a:solidFill>
              </a:rPr>
              <a:t>Computed Tomography creates 3D cross-sectional images</a:t>
            </a:r>
            <a:endParaRPr lang="en-US" sz="1000" dirty="0"/>
          </a:p>
        </p:txBody>
      </p:sp>
      <p:sp>
        <p:nvSpPr>
          <p:cNvPr id="13" name="Shape 10"/>
          <p:cNvSpPr/>
          <p:nvPr/>
        </p:nvSpPr>
        <p:spPr>
          <a:xfrm>
            <a:off x="274320" y="2642616"/>
            <a:ext cx="54864" cy="502920"/>
          </a:xfrm>
          <a:prstGeom prst="rect">
            <a:avLst/>
          </a:prstGeom>
          <a:solidFill>
            <a:srgbClr val="2196F3"/>
          </a:solidFill>
        </p:spPr>
      </p:sp>
      <p:sp>
        <p:nvSpPr>
          <p:cNvPr id="14" name="Text 11"/>
          <p:cNvSpPr/>
          <p:nvPr/>
        </p:nvSpPr>
        <p:spPr>
          <a:xfrm>
            <a:off x="457200" y="2642616"/>
            <a:ext cx="4389120" cy="256032"/>
          </a:xfrm>
          <a:prstGeom prst="rect">
            <a:avLst/>
          </a:prstGeom>
          <a:noFill/>
        </p:spPr>
        <p:txBody>
          <a:bodyPr wrap="square" lIns="0" tIns="0" rIns="0" bIns="0" rtlCol="0" anchor="ctr"/>
          <a:lstStyle/>
          <a:p>
            <a:pPr marL="0" indent="0">
              <a:buNone/>
            </a:pPr>
            <a:r>
              <a:rPr lang="en-US" sz="1200" b="1" dirty="0">
                <a:solidFill>
                  <a:srgbClr val="2D3748"/>
                </a:solidFill>
              </a:rPr>
              <a:t>Explosive Trace Detection</a:t>
            </a:r>
            <a:endParaRPr lang="en-US" sz="1200" dirty="0"/>
          </a:p>
        </p:txBody>
      </p:sp>
      <p:sp>
        <p:nvSpPr>
          <p:cNvPr id="15" name="Text 12"/>
          <p:cNvSpPr/>
          <p:nvPr/>
        </p:nvSpPr>
        <p:spPr>
          <a:xfrm>
            <a:off x="457200" y="2898648"/>
            <a:ext cx="4389120" cy="256032"/>
          </a:xfrm>
          <a:prstGeom prst="rect">
            <a:avLst/>
          </a:prstGeom>
          <a:noFill/>
        </p:spPr>
        <p:txBody>
          <a:bodyPr wrap="square" lIns="0" tIns="0" rIns="0" bIns="0" rtlCol="0" anchor="ctr"/>
          <a:lstStyle/>
          <a:p>
            <a:pPr marL="0" indent="0">
              <a:buNone/>
            </a:pPr>
            <a:r>
              <a:rPr lang="en-US" sz="1000" dirty="0">
                <a:solidFill>
                  <a:srgbClr val="8899AA"/>
                </a:solidFill>
              </a:rPr>
              <a:t>Chemical swabbing detects explosive residues</a:t>
            </a:r>
            <a:endParaRPr lang="en-US" sz="1000" dirty="0"/>
          </a:p>
        </p:txBody>
      </p:sp>
      <p:sp>
        <p:nvSpPr>
          <p:cNvPr id="16" name="Shape 13"/>
          <p:cNvSpPr/>
          <p:nvPr/>
        </p:nvSpPr>
        <p:spPr>
          <a:xfrm>
            <a:off x="274320" y="3300984"/>
            <a:ext cx="54864" cy="502920"/>
          </a:xfrm>
          <a:prstGeom prst="rect">
            <a:avLst/>
          </a:prstGeom>
          <a:solidFill>
            <a:srgbClr val="2196F3"/>
          </a:solidFill>
        </p:spPr>
      </p:sp>
      <p:sp>
        <p:nvSpPr>
          <p:cNvPr id="17" name="Text 14"/>
          <p:cNvSpPr/>
          <p:nvPr/>
        </p:nvSpPr>
        <p:spPr>
          <a:xfrm>
            <a:off x="457200" y="3300984"/>
            <a:ext cx="4389120" cy="256032"/>
          </a:xfrm>
          <a:prstGeom prst="rect">
            <a:avLst/>
          </a:prstGeom>
          <a:noFill/>
        </p:spPr>
        <p:txBody>
          <a:bodyPr wrap="square" lIns="0" tIns="0" rIns="0" bIns="0" rtlCol="0" anchor="ctr"/>
          <a:lstStyle/>
          <a:p>
            <a:pPr marL="0" indent="0">
              <a:buNone/>
            </a:pPr>
            <a:r>
              <a:rPr lang="en-US" sz="1200" b="1" dirty="0">
                <a:solidFill>
                  <a:srgbClr val="2D3748"/>
                </a:solidFill>
              </a:rPr>
              <a:t>Automated Threat Detection</a:t>
            </a:r>
            <a:endParaRPr lang="en-US" sz="1200" dirty="0"/>
          </a:p>
        </p:txBody>
      </p:sp>
      <p:sp>
        <p:nvSpPr>
          <p:cNvPr id="18" name="Text 15"/>
          <p:cNvSpPr/>
          <p:nvPr/>
        </p:nvSpPr>
        <p:spPr>
          <a:xfrm>
            <a:off x="457200" y="3557016"/>
            <a:ext cx="4389120" cy="256032"/>
          </a:xfrm>
          <a:prstGeom prst="rect">
            <a:avLst/>
          </a:prstGeom>
          <a:noFill/>
        </p:spPr>
        <p:txBody>
          <a:bodyPr wrap="square" lIns="0" tIns="0" rIns="0" bIns="0" rtlCol="0" anchor="ctr"/>
          <a:lstStyle/>
          <a:p>
            <a:pPr marL="0" indent="0">
              <a:buNone/>
            </a:pPr>
            <a:r>
              <a:rPr lang="en-US" sz="1000" dirty="0">
                <a:solidFill>
                  <a:srgbClr val="8899AA"/>
                </a:solidFill>
              </a:rPr>
              <a:t>AI algorithms flag suspicious shapes/densities</a:t>
            </a:r>
            <a:endParaRPr lang="en-US" sz="1000" dirty="0"/>
          </a:p>
        </p:txBody>
      </p:sp>
      <p:sp>
        <p:nvSpPr>
          <p:cNvPr id="19" name="Shape 16"/>
          <p:cNvSpPr/>
          <p:nvPr/>
        </p:nvSpPr>
        <p:spPr>
          <a:xfrm>
            <a:off x="274320" y="3959352"/>
            <a:ext cx="54864" cy="502920"/>
          </a:xfrm>
          <a:prstGeom prst="rect">
            <a:avLst/>
          </a:prstGeom>
          <a:solidFill>
            <a:srgbClr val="2196F3"/>
          </a:solidFill>
        </p:spPr>
      </p:sp>
      <p:sp>
        <p:nvSpPr>
          <p:cNvPr id="20" name="Text 17"/>
          <p:cNvSpPr/>
          <p:nvPr/>
        </p:nvSpPr>
        <p:spPr>
          <a:xfrm>
            <a:off x="457200" y="3959352"/>
            <a:ext cx="4389120" cy="256032"/>
          </a:xfrm>
          <a:prstGeom prst="rect">
            <a:avLst/>
          </a:prstGeom>
          <a:noFill/>
        </p:spPr>
        <p:txBody>
          <a:bodyPr wrap="square" lIns="0" tIns="0" rIns="0" bIns="0" rtlCol="0" anchor="ctr"/>
          <a:lstStyle/>
          <a:p>
            <a:pPr marL="0" indent="0">
              <a:buNone/>
            </a:pPr>
            <a:r>
              <a:rPr lang="en-US" sz="1200" b="1" dirty="0">
                <a:solidFill>
                  <a:srgbClr val="2D3748"/>
                </a:solidFill>
              </a:rPr>
              <a:t>Liquid Analysis</a:t>
            </a:r>
            <a:endParaRPr lang="en-US" sz="1200" dirty="0"/>
          </a:p>
        </p:txBody>
      </p:sp>
      <p:sp>
        <p:nvSpPr>
          <p:cNvPr id="21" name="Text 18"/>
          <p:cNvSpPr/>
          <p:nvPr/>
        </p:nvSpPr>
        <p:spPr>
          <a:xfrm>
            <a:off x="457200" y="4215384"/>
            <a:ext cx="4389120" cy="256032"/>
          </a:xfrm>
          <a:prstGeom prst="rect">
            <a:avLst/>
          </a:prstGeom>
          <a:noFill/>
        </p:spPr>
        <p:txBody>
          <a:bodyPr wrap="square" lIns="0" tIns="0" rIns="0" bIns="0" rtlCol="0" anchor="ctr"/>
          <a:lstStyle/>
          <a:p>
            <a:pPr marL="0" indent="0">
              <a:buNone/>
            </a:pPr>
            <a:r>
              <a:rPr lang="en-US" sz="1000" dirty="0">
                <a:solidFill>
                  <a:srgbClr val="8899AA"/>
                </a:solidFill>
              </a:rPr>
              <a:t>Identifies hazardous liquids in sealed containers</a:t>
            </a:r>
            <a:endParaRPr lang="en-US" sz="1000" dirty="0"/>
          </a:p>
        </p:txBody>
      </p:sp>
      <p:sp>
        <p:nvSpPr>
          <p:cNvPr id="22" name="Shape 19"/>
          <p:cNvSpPr/>
          <p:nvPr/>
        </p:nvSpPr>
        <p:spPr>
          <a:xfrm>
            <a:off x="5212080" y="3611880"/>
            <a:ext cx="1143000" cy="1051560"/>
          </a:xfrm>
          <a:prstGeom prst="rect">
            <a:avLst/>
          </a:prstGeom>
          <a:solidFill>
            <a:srgbClr val="1A3C5E"/>
          </a:solidFill>
        </p:spPr>
      </p:sp>
      <p:sp>
        <p:nvSpPr>
          <p:cNvPr id="23" name="Text 20"/>
          <p:cNvSpPr/>
          <p:nvPr/>
        </p:nvSpPr>
        <p:spPr>
          <a:xfrm>
            <a:off x="5212080" y="3703320"/>
            <a:ext cx="1143000" cy="365760"/>
          </a:xfrm>
          <a:prstGeom prst="rect">
            <a:avLst/>
          </a:prstGeom>
          <a:noFill/>
        </p:spPr>
        <p:txBody>
          <a:bodyPr wrap="square" lIns="0" tIns="0" rIns="0" bIns="0" rtlCol="0" anchor="ctr"/>
          <a:lstStyle/>
          <a:p>
            <a:pPr marL="0" indent="0" algn="ctr">
              <a:buNone/>
            </a:pPr>
            <a:r>
              <a:rPr lang="en-US" sz="1800" b="1" dirty="0">
                <a:solidFill>
                  <a:srgbClr val="2196F3"/>
                </a:solidFill>
              </a:rPr>
              <a:t>99.9%</a:t>
            </a:r>
            <a:endParaRPr lang="en-US" sz="1800" dirty="0"/>
          </a:p>
        </p:txBody>
      </p:sp>
      <p:sp>
        <p:nvSpPr>
          <p:cNvPr id="24" name="Text 21"/>
          <p:cNvSpPr/>
          <p:nvPr/>
        </p:nvSpPr>
        <p:spPr>
          <a:xfrm>
            <a:off x="5212080" y="4133088"/>
            <a:ext cx="1143000" cy="365760"/>
          </a:xfrm>
          <a:prstGeom prst="rect">
            <a:avLst/>
          </a:prstGeom>
          <a:noFill/>
        </p:spPr>
        <p:txBody>
          <a:bodyPr wrap="square" lIns="0" tIns="0" rIns="0" bIns="0" rtlCol="0" anchor="ctr"/>
          <a:lstStyle/>
          <a:p>
            <a:pPr marL="0" indent="0" algn="ctr">
              <a:buNone/>
            </a:pPr>
            <a:r>
              <a:rPr lang="en-US" sz="900" dirty="0">
                <a:solidFill>
                  <a:srgbClr val="BBDEFB"/>
                </a:solidFill>
              </a:rPr>
              <a:t>Detection Rate</a:t>
            </a:r>
            <a:endParaRPr lang="en-US" sz="900" dirty="0"/>
          </a:p>
        </p:txBody>
      </p:sp>
      <p:sp>
        <p:nvSpPr>
          <p:cNvPr id="25" name="Shape 22"/>
          <p:cNvSpPr/>
          <p:nvPr/>
        </p:nvSpPr>
        <p:spPr>
          <a:xfrm>
            <a:off x="6446520" y="3611880"/>
            <a:ext cx="1143000" cy="1051560"/>
          </a:xfrm>
          <a:prstGeom prst="rect">
            <a:avLst/>
          </a:prstGeom>
          <a:solidFill>
            <a:srgbClr val="1A3C5E"/>
          </a:solidFill>
        </p:spPr>
      </p:sp>
      <p:sp>
        <p:nvSpPr>
          <p:cNvPr id="26" name="Text 23"/>
          <p:cNvSpPr/>
          <p:nvPr/>
        </p:nvSpPr>
        <p:spPr>
          <a:xfrm>
            <a:off x="6446520" y="3703320"/>
            <a:ext cx="1143000" cy="365760"/>
          </a:xfrm>
          <a:prstGeom prst="rect">
            <a:avLst/>
          </a:prstGeom>
          <a:noFill/>
        </p:spPr>
        <p:txBody>
          <a:bodyPr wrap="square" lIns="0" tIns="0" rIns="0" bIns="0" rtlCol="0" anchor="ctr"/>
          <a:lstStyle/>
          <a:p>
            <a:pPr marL="0" indent="0" algn="ctr">
              <a:buNone/>
            </a:pPr>
            <a:r>
              <a:rPr lang="en-US" sz="1800" b="1" dirty="0">
                <a:solidFill>
                  <a:srgbClr val="2196F3"/>
                </a:solidFill>
              </a:rPr>
              <a:t>&lt; 30s</a:t>
            </a:r>
            <a:endParaRPr lang="en-US" sz="1800" dirty="0"/>
          </a:p>
        </p:txBody>
      </p:sp>
      <p:sp>
        <p:nvSpPr>
          <p:cNvPr id="27" name="Text 24"/>
          <p:cNvSpPr/>
          <p:nvPr/>
        </p:nvSpPr>
        <p:spPr>
          <a:xfrm>
            <a:off x="6446520" y="4133088"/>
            <a:ext cx="1143000" cy="365760"/>
          </a:xfrm>
          <a:prstGeom prst="rect">
            <a:avLst/>
          </a:prstGeom>
          <a:noFill/>
        </p:spPr>
        <p:txBody>
          <a:bodyPr wrap="square" lIns="0" tIns="0" rIns="0" bIns="0" rtlCol="0" anchor="ctr"/>
          <a:lstStyle/>
          <a:p>
            <a:pPr marL="0" indent="0" algn="ctr">
              <a:buNone/>
            </a:pPr>
            <a:r>
              <a:rPr lang="en-US" sz="900" dirty="0">
                <a:solidFill>
                  <a:srgbClr val="BBDEFB"/>
                </a:solidFill>
              </a:rPr>
              <a:t>Scan Time</a:t>
            </a:r>
            <a:endParaRPr lang="en-US" sz="900" dirty="0"/>
          </a:p>
        </p:txBody>
      </p:sp>
      <p:sp>
        <p:nvSpPr>
          <p:cNvPr id="28" name="Shape 25"/>
          <p:cNvSpPr/>
          <p:nvPr/>
        </p:nvSpPr>
        <p:spPr>
          <a:xfrm>
            <a:off x="7680960" y="3611880"/>
            <a:ext cx="1143000" cy="1051560"/>
          </a:xfrm>
          <a:prstGeom prst="rect">
            <a:avLst/>
          </a:prstGeom>
          <a:solidFill>
            <a:srgbClr val="1A3C5E"/>
          </a:solidFill>
        </p:spPr>
      </p:sp>
      <p:sp>
        <p:nvSpPr>
          <p:cNvPr id="29" name="Text 26"/>
          <p:cNvSpPr/>
          <p:nvPr/>
        </p:nvSpPr>
        <p:spPr>
          <a:xfrm>
            <a:off x="7680960" y="3703320"/>
            <a:ext cx="1143000" cy="365760"/>
          </a:xfrm>
          <a:prstGeom prst="rect">
            <a:avLst/>
          </a:prstGeom>
          <a:noFill/>
        </p:spPr>
        <p:txBody>
          <a:bodyPr wrap="square" lIns="0" tIns="0" rIns="0" bIns="0" rtlCol="0" anchor="ctr"/>
          <a:lstStyle/>
          <a:p>
            <a:pPr marL="0" indent="0" algn="ctr">
              <a:buNone/>
            </a:pPr>
            <a:r>
              <a:rPr lang="en-US" sz="1800" b="1" dirty="0">
                <a:solidFill>
                  <a:srgbClr val="2196F3"/>
                </a:solidFill>
              </a:rPr>
              <a:t>3 Layers</a:t>
            </a:r>
            <a:endParaRPr lang="en-US" sz="1800" dirty="0"/>
          </a:p>
        </p:txBody>
      </p:sp>
      <p:sp>
        <p:nvSpPr>
          <p:cNvPr id="30" name="Text 27"/>
          <p:cNvSpPr/>
          <p:nvPr/>
        </p:nvSpPr>
        <p:spPr>
          <a:xfrm>
            <a:off x="7680960" y="4133088"/>
            <a:ext cx="1143000" cy="365760"/>
          </a:xfrm>
          <a:prstGeom prst="rect">
            <a:avLst/>
          </a:prstGeom>
          <a:noFill/>
        </p:spPr>
        <p:txBody>
          <a:bodyPr wrap="square" lIns="0" tIns="0" rIns="0" bIns="0" rtlCol="0" anchor="ctr"/>
          <a:lstStyle/>
          <a:p>
            <a:pPr marL="0" indent="0" algn="ctr">
              <a:buNone/>
            </a:pPr>
            <a:r>
              <a:rPr lang="en-US" sz="900" dirty="0">
                <a:solidFill>
                  <a:srgbClr val="BBDEFB"/>
                </a:solidFill>
              </a:rPr>
              <a:t>Screening Levels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2833"/>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412480" cy="457200"/>
          </a:xfrm>
          <a:prstGeom prst="rect">
            <a:avLst/>
          </a:prstGeom>
          <a:noFill/>
        </p:spPr>
        <p:txBody>
          <a:bodyPr wrap="square" lIns="0" tIns="0" rIns="0" bIns="0" rtlCol="0" anchor="ctr"/>
          <a:lstStyle/>
          <a:p>
            <a:pPr marL="0" indent="0">
              <a:buNone/>
            </a:pPr>
            <a:r>
              <a:rPr lang="en-US" sz="1900" b="1" dirty="0">
                <a:solidFill>
                  <a:srgbClr val="FFFFFF"/>
                </a:solidFill>
              </a:rPr>
              <a:t>MODERN TECHNOLOGIES IN AIRLINE SECURITY</a:t>
            </a:r>
            <a:endParaRPr lang="en-US" sz="1900" dirty="0"/>
          </a:p>
        </p:txBody>
      </p:sp>
      <p:sp>
        <p:nvSpPr>
          <p:cNvPr id="5" name="Shape 3"/>
          <p:cNvSpPr/>
          <p:nvPr/>
        </p:nvSpPr>
        <p:spPr>
          <a:xfrm>
            <a:off x="228600" y="822960"/>
            <a:ext cx="2011680" cy="3931920"/>
          </a:xfrm>
          <a:prstGeom prst="rect">
            <a:avLst/>
          </a:prstGeom>
          <a:solidFill>
            <a:srgbClr val="111F2E"/>
          </a:solidFill>
          <a:effectLst>
            <a:outerShdw blurRad="101600" dist="38100" dir="8100000" algn="bl" rotWithShape="0">
              <a:srgbClr val="000000">
                <a:alpha val="35000"/>
              </a:srgbClr>
            </a:outerShdw>
          </a:effectLst>
        </p:spPr>
      </p:sp>
      <p:sp>
        <p:nvSpPr>
          <p:cNvPr id="6" name="Shape 4"/>
          <p:cNvSpPr/>
          <p:nvPr/>
        </p:nvSpPr>
        <p:spPr>
          <a:xfrm>
            <a:off x="228600" y="822960"/>
            <a:ext cx="2011680" cy="54864"/>
          </a:xfrm>
          <a:prstGeom prst="rect">
            <a:avLst/>
          </a:prstGeom>
          <a:solidFill>
            <a:srgbClr val="1565C0"/>
          </a:solidFill>
        </p:spPr>
      </p:sp>
      <p:sp>
        <p:nvSpPr>
          <p:cNvPr id="7" name="Shape 5"/>
          <p:cNvSpPr/>
          <p:nvPr/>
        </p:nvSpPr>
        <p:spPr>
          <a:xfrm>
            <a:off x="868680" y="1005840"/>
            <a:ext cx="731520" cy="731520"/>
          </a:xfrm>
          <a:prstGeom prst="ellipse">
            <a:avLst/>
          </a:prstGeom>
          <a:solidFill>
            <a:srgbClr val="1565C0"/>
          </a:solidFill>
        </p:spPr>
      </p:sp>
      <p:pic>
        <p:nvPicPr>
          <p:cNvPr id="8" name="Image 0" descr="preencoded.png"/>
          <p:cNvPicPr>
            <a:picLocks noChangeAspect="1"/>
          </p:cNvPicPr>
          <p:nvPr/>
        </p:nvPicPr>
        <p:blipFill>
          <a:blip r:embed="rId1"/>
          <a:stretch>
            <a:fillRect/>
          </a:stretch>
        </p:blipFill>
        <p:spPr>
          <a:xfrm>
            <a:off x="932688" y="1069848"/>
            <a:ext cx="603504" cy="603504"/>
          </a:xfrm>
          <a:prstGeom prst="rect">
            <a:avLst/>
          </a:prstGeom>
        </p:spPr>
      </p:pic>
      <p:sp>
        <p:nvSpPr>
          <p:cNvPr id="9" name="Text 6"/>
          <p:cNvSpPr/>
          <p:nvPr/>
        </p:nvSpPr>
        <p:spPr>
          <a:xfrm>
            <a:off x="320040" y="1920240"/>
            <a:ext cx="1828800" cy="411480"/>
          </a:xfrm>
          <a:prstGeom prst="rect">
            <a:avLst/>
          </a:prstGeom>
          <a:noFill/>
        </p:spPr>
        <p:txBody>
          <a:bodyPr wrap="square" lIns="0" tIns="0" rIns="0" bIns="0" rtlCol="0" anchor="ctr"/>
          <a:lstStyle/>
          <a:p>
            <a:pPr marL="0" indent="0" algn="ctr">
              <a:buNone/>
            </a:pPr>
            <a:r>
              <a:rPr lang="en-US" sz="1200" b="1" dirty="0">
                <a:solidFill>
                  <a:srgbClr val="FFFFFF"/>
                </a:solidFill>
              </a:rPr>
              <a:t>Biometric Systems</a:t>
            </a:r>
            <a:endParaRPr lang="en-US" sz="1200" dirty="0"/>
          </a:p>
        </p:txBody>
      </p:sp>
      <p:sp>
        <p:nvSpPr>
          <p:cNvPr id="10" name="Text 7"/>
          <p:cNvSpPr/>
          <p:nvPr/>
        </p:nvSpPr>
        <p:spPr>
          <a:xfrm>
            <a:off x="365760" y="2423160"/>
            <a:ext cx="1737360" cy="2194560"/>
          </a:xfrm>
          <a:prstGeom prst="rect">
            <a:avLst/>
          </a:prstGeom>
          <a:noFill/>
        </p:spPr>
        <p:txBody>
          <a:bodyPr wrap="square" rtlCol="0" anchor="ctr"/>
          <a:lstStyle/>
          <a:p>
            <a:pPr marL="342900" indent="-342900">
              <a:buSzPct val="100000"/>
              <a:buChar char="•"/>
            </a:pPr>
            <a:r>
              <a:rPr lang="en-US" sz="1000" dirty="0">
                <a:solidFill>
                  <a:srgbClr val="BBDEFB"/>
                </a:solidFill>
              </a:rPr>
              <a:t>Fingerprint scanning at boarding</a:t>
            </a:r>
            <a:endParaRPr lang="en-US" sz="1000" dirty="0"/>
          </a:p>
          <a:p>
            <a:pPr marL="342900" indent="-342900">
              <a:buSzPct val="100000"/>
              <a:buChar char="•"/>
            </a:pPr>
            <a:r>
              <a:rPr lang="en-US" sz="1000" dirty="0">
                <a:solidFill>
                  <a:srgbClr val="BBDEFB"/>
                </a:solidFill>
              </a:rPr>
              <a:t>Iris recognition for crew access</a:t>
            </a:r>
            <a:endParaRPr lang="en-US" sz="1000" dirty="0"/>
          </a:p>
          <a:p>
            <a:pPr marL="342900" indent="-342900">
              <a:buSzPct val="100000"/>
              <a:buChar char="•"/>
            </a:pPr>
            <a:r>
              <a:rPr lang="en-US" sz="1000" dirty="0">
                <a:solidFill>
                  <a:srgbClr val="BBDEFB"/>
                </a:solidFill>
              </a:rPr>
              <a:t>Facial geometry mapping</a:t>
            </a:r>
            <a:endParaRPr lang="en-US" sz="1000" dirty="0"/>
          </a:p>
        </p:txBody>
      </p:sp>
      <p:sp>
        <p:nvSpPr>
          <p:cNvPr id="11" name="Shape 8"/>
          <p:cNvSpPr/>
          <p:nvPr/>
        </p:nvSpPr>
        <p:spPr>
          <a:xfrm>
            <a:off x="2404872" y="822960"/>
            <a:ext cx="2011680" cy="3931920"/>
          </a:xfrm>
          <a:prstGeom prst="rect">
            <a:avLst/>
          </a:prstGeom>
          <a:solidFill>
            <a:srgbClr val="111F2E"/>
          </a:solidFill>
          <a:effectLst>
            <a:outerShdw blurRad="101600" dist="38100" dir="8100000" algn="bl" rotWithShape="0">
              <a:srgbClr val="000000">
                <a:alpha val="35000"/>
              </a:srgbClr>
            </a:outerShdw>
          </a:effectLst>
        </p:spPr>
      </p:sp>
      <p:sp>
        <p:nvSpPr>
          <p:cNvPr id="12" name="Shape 9"/>
          <p:cNvSpPr/>
          <p:nvPr/>
        </p:nvSpPr>
        <p:spPr>
          <a:xfrm>
            <a:off x="2404872" y="822960"/>
            <a:ext cx="2011680" cy="54864"/>
          </a:xfrm>
          <a:prstGeom prst="rect">
            <a:avLst/>
          </a:prstGeom>
          <a:solidFill>
            <a:srgbClr val="00695C"/>
          </a:solidFill>
        </p:spPr>
      </p:sp>
      <p:sp>
        <p:nvSpPr>
          <p:cNvPr id="13" name="Shape 10"/>
          <p:cNvSpPr/>
          <p:nvPr/>
        </p:nvSpPr>
        <p:spPr>
          <a:xfrm>
            <a:off x="3044952" y="1005840"/>
            <a:ext cx="731520" cy="731520"/>
          </a:xfrm>
          <a:prstGeom prst="ellipse">
            <a:avLst/>
          </a:prstGeom>
          <a:solidFill>
            <a:srgbClr val="00695C"/>
          </a:solidFill>
        </p:spPr>
      </p:sp>
      <p:pic>
        <p:nvPicPr>
          <p:cNvPr id="14" name="Image 1" descr="preencoded.png"/>
          <p:cNvPicPr>
            <a:picLocks noChangeAspect="1"/>
          </p:cNvPicPr>
          <p:nvPr/>
        </p:nvPicPr>
        <p:blipFill>
          <a:blip r:embed="rId2"/>
          <a:stretch>
            <a:fillRect/>
          </a:stretch>
        </p:blipFill>
        <p:spPr>
          <a:xfrm>
            <a:off x="3108960" y="1069848"/>
            <a:ext cx="603504" cy="603504"/>
          </a:xfrm>
          <a:prstGeom prst="rect">
            <a:avLst/>
          </a:prstGeom>
        </p:spPr>
      </p:pic>
      <p:sp>
        <p:nvSpPr>
          <p:cNvPr id="15" name="Text 11"/>
          <p:cNvSpPr/>
          <p:nvPr/>
        </p:nvSpPr>
        <p:spPr>
          <a:xfrm>
            <a:off x="2496312" y="1920240"/>
            <a:ext cx="1828800" cy="411480"/>
          </a:xfrm>
          <a:prstGeom prst="rect">
            <a:avLst/>
          </a:prstGeom>
          <a:noFill/>
        </p:spPr>
        <p:txBody>
          <a:bodyPr wrap="square" lIns="0" tIns="0" rIns="0" bIns="0" rtlCol="0" anchor="ctr"/>
          <a:lstStyle/>
          <a:p>
            <a:pPr marL="0" indent="0" algn="ctr">
              <a:buNone/>
            </a:pPr>
            <a:r>
              <a:rPr lang="en-US" sz="1200" b="1" dirty="0">
                <a:solidFill>
                  <a:srgbClr val="FFFFFF"/>
                </a:solidFill>
              </a:rPr>
              <a:t>Facial Recognition</a:t>
            </a:r>
            <a:endParaRPr lang="en-US" sz="1200" dirty="0"/>
          </a:p>
        </p:txBody>
      </p:sp>
      <p:sp>
        <p:nvSpPr>
          <p:cNvPr id="16" name="Text 12"/>
          <p:cNvSpPr/>
          <p:nvPr/>
        </p:nvSpPr>
        <p:spPr>
          <a:xfrm>
            <a:off x="2542032" y="2423160"/>
            <a:ext cx="1737360" cy="2194560"/>
          </a:xfrm>
          <a:prstGeom prst="rect">
            <a:avLst/>
          </a:prstGeom>
          <a:noFill/>
        </p:spPr>
        <p:txBody>
          <a:bodyPr wrap="square" rtlCol="0" anchor="ctr"/>
          <a:lstStyle/>
          <a:p>
            <a:pPr marL="342900" indent="-342900">
              <a:buSzPct val="100000"/>
              <a:buChar char="•"/>
            </a:pPr>
            <a:r>
              <a:rPr lang="en-US" sz="1000" dirty="0">
                <a:solidFill>
                  <a:srgbClr val="BBDEFB"/>
                </a:solidFill>
              </a:rPr>
              <a:t>AI-powered face matching</a:t>
            </a:r>
            <a:endParaRPr lang="en-US" sz="1000" dirty="0"/>
          </a:p>
          <a:p>
            <a:pPr marL="342900" indent="-342900">
              <a:buSzPct val="100000"/>
              <a:buChar char="•"/>
            </a:pPr>
            <a:r>
              <a:rPr lang="en-US" sz="1000" dirty="0">
                <a:solidFill>
                  <a:srgbClr val="BBDEFB"/>
                </a:solidFill>
              </a:rPr>
              <a:t>Real-time watchlist comparison</a:t>
            </a:r>
            <a:endParaRPr lang="en-US" sz="1000" dirty="0"/>
          </a:p>
          <a:p>
            <a:pPr marL="342900" indent="-342900">
              <a:buSzPct val="100000"/>
              <a:buChar char="•"/>
            </a:pPr>
            <a:r>
              <a:rPr lang="en-US" sz="1000" dirty="0">
                <a:solidFill>
                  <a:srgbClr val="BBDEFB"/>
                </a:solidFill>
              </a:rPr>
              <a:t>ePassport integration</a:t>
            </a:r>
            <a:endParaRPr lang="en-US" sz="1000" dirty="0"/>
          </a:p>
        </p:txBody>
      </p:sp>
      <p:sp>
        <p:nvSpPr>
          <p:cNvPr id="17" name="Shape 13"/>
          <p:cNvSpPr/>
          <p:nvPr/>
        </p:nvSpPr>
        <p:spPr>
          <a:xfrm>
            <a:off x="4581144" y="822960"/>
            <a:ext cx="2011680" cy="3931920"/>
          </a:xfrm>
          <a:prstGeom prst="rect">
            <a:avLst/>
          </a:prstGeom>
          <a:solidFill>
            <a:srgbClr val="111F2E"/>
          </a:solidFill>
          <a:effectLst>
            <a:outerShdw blurRad="101600" dist="38100" dir="8100000" algn="bl" rotWithShape="0">
              <a:srgbClr val="000000">
                <a:alpha val="35000"/>
              </a:srgbClr>
            </a:outerShdw>
          </a:effectLst>
        </p:spPr>
      </p:sp>
      <p:sp>
        <p:nvSpPr>
          <p:cNvPr id="18" name="Shape 14"/>
          <p:cNvSpPr/>
          <p:nvPr/>
        </p:nvSpPr>
        <p:spPr>
          <a:xfrm>
            <a:off x="4581144" y="822960"/>
            <a:ext cx="2011680" cy="54864"/>
          </a:xfrm>
          <a:prstGeom prst="rect">
            <a:avLst/>
          </a:prstGeom>
          <a:solidFill>
            <a:srgbClr val="4A148C"/>
          </a:solidFill>
        </p:spPr>
      </p:sp>
      <p:sp>
        <p:nvSpPr>
          <p:cNvPr id="19" name="Shape 15"/>
          <p:cNvSpPr/>
          <p:nvPr/>
        </p:nvSpPr>
        <p:spPr>
          <a:xfrm>
            <a:off x="5221224" y="1005840"/>
            <a:ext cx="731520" cy="731520"/>
          </a:xfrm>
          <a:prstGeom prst="ellipse">
            <a:avLst/>
          </a:prstGeom>
          <a:solidFill>
            <a:srgbClr val="4A148C"/>
          </a:solidFill>
        </p:spPr>
      </p:sp>
      <p:pic>
        <p:nvPicPr>
          <p:cNvPr id="20" name="Image 2" descr="preencoded.png"/>
          <p:cNvPicPr>
            <a:picLocks noChangeAspect="1"/>
          </p:cNvPicPr>
          <p:nvPr/>
        </p:nvPicPr>
        <p:blipFill>
          <a:blip r:embed="rId3"/>
          <a:stretch>
            <a:fillRect/>
          </a:stretch>
        </p:blipFill>
        <p:spPr>
          <a:xfrm>
            <a:off x="5285232" y="1069848"/>
            <a:ext cx="603504" cy="603504"/>
          </a:xfrm>
          <a:prstGeom prst="rect">
            <a:avLst/>
          </a:prstGeom>
        </p:spPr>
      </p:pic>
      <p:sp>
        <p:nvSpPr>
          <p:cNvPr id="21" name="Text 16"/>
          <p:cNvSpPr/>
          <p:nvPr/>
        </p:nvSpPr>
        <p:spPr>
          <a:xfrm>
            <a:off x="4672584" y="1920240"/>
            <a:ext cx="1828800" cy="411480"/>
          </a:xfrm>
          <a:prstGeom prst="rect">
            <a:avLst/>
          </a:prstGeom>
          <a:noFill/>
        </p:spPr>
        <p:txBody>
          <a:bodyPr wrap="square" lIns="0" tIns="0" rIns="0" bIns="0" rtlCol="0" anchor="ctr"/>
          <a:lstStyle/>
          <a:p>
            <a:pPr marL="0" indent="0" algn="ctr">
              <a:buNone/>
            </a:pPr>
            <a:r>
              <a:rPr lang="en-US" sz="1200" b="1" dirty="0">
                <a:solidFill>
                  <a:srgbClr val="FFFFFF"/>
                </a:solidFill>
              </a:rPr>
              <a:t>Artificial Intelligence</a:t>
            </a:r>
            <a:endParaRPr lang="en-US" sz="1200" dirty="0"/>
          </a:p>
        </p:txBody>
      </p:sp>
      <p:sp>
        <p:nvSpPr>
          <p:cNvPr id="22" name="Text 17"/>
          <p:cNvSpPr/>
          <p:nvPr/>
        </p:nvSpPr>
        <p:spPr>
          <a:xfrm>
            <a:off x="4718304" y="2423160"/>
            <a:ext cx="1737360" cy="2194560"/>
          </a:xfrm>
          <a:prstGeom prst="rect">
            <a:avLst/>
          </a:prstGeom>
          <a:noFill/>
        </p:spPr>
        <p:txBody>
          <a:bodyPr wrap="square" rtlCol="0" anchor="ctr"/>
          <a:lstStyle/>
          <a:p>
            <a:pPr marL="342900" indent="-342900">
              <a:buSzPct val="100000"/>
              <a:buChar char="•"/>
            </a:pPr>
            <a:r>
              <a:rPr lang="en-US" sz="1000" dirty="0">
                <a:solidFill>
                  <a:srgbClr val="BBDEFB"/>
                </a:solidFill>
              </a:rPr>
              <a:t>Predictive threat modeling</a:t>
            </a:r>
            <a:endParaRPr lang="en-US" sz="1000" dirty="0"/>
          </a:p>
          <a:p>
            <a:pPr marL="342900" indent="-342900">
              <a:buSzPct val="100000"/>
              <a:buChar char="•"/>
            </a:pPr>
            <a:r>
              <a:rPr lang="en-US" sz="1000" dirty="0">
                <a:solidFill>
                  <a:srgbClr val="BBDEFB"/>
                </a:solidFill>
              </a:rPr>
              <a:t>Anomaly detection in crowds</a:t>
            </a:r>
            <a:endParaRPr lang="en-US" sz="1000" dirty="0"/>
          </a:p>
          <a:p>
            <a:pPr marL="342900" indent="-342900">
              <a:buSzPct val="100000"/>
              <a:buChar char="•"/>
            </a:pPr>
            <a:r>
              <a:rPr lang="en-US" sz="1000" dirty="0">
                <a:solidFill>
                  <a:srgbClr val="BBDEFB"/>
                </a:solidFill>
              </a:rPr>
              <a:t>Automated baggage analysis</a:t>
            </a:r>
            <a:endParaRPr lang="en-US" sz="1000" dirty="0"/>
          </a:p>
        </p:txBody>
      </p:sp>
      <p:sp>
        <p:nvSpPr>
          <p:cNvPr id="23" name="Shape 18"/>
          <p:cNvSpPr/>
          <p:nvPr/>
        </p:nvSpPr>
        <p:spPr>
          <a:xfrm>
            <a:off x="6757416" y="822960"/>
            <a:ext cx="2011680" cy="3931920"/>
          </a:xfrm>
          <a:prstGeom prst="rect">
            <a:avLst/>
          </a:prstGeom>
          <a:solidFill>
            <a:srgbClr val="111F2E"/>
          </a:solidFill>
          <a:effectLst>
            <a:outerShdw blurRad="101600" dist="38100" dir="8100000" algn="bl" rotWithShape="0">
              <a:srgbClr val="000000">
                <a:alpha val="35000"/>
              </a:srgbClr>
            </a:outerShdw>
          </a:effectLst>
        </p:spPr>
      </p:sp>
      <p:sp>
        <p:nvSpPr>
          <p:cNvPr id="24" name="Shape 19"/>
          <p:cNvSpPr/>
          <p:nvPr/>
        </p:nvSpPr>
        <p:spPr>
          <a:xfrm>
            <a:off x="6757416" y="822960"/>
            <a:ext cx="2011680" cy="54864"/>
          </a:xfrm>
          <a:prstGeom prst="rect">
            <a:avLst/>
          </a:prstGeom>
          <a:solidFill>
            <a:srgbClr val="BF360C"/>
          </a:solidFill>
        </p:spPr>
      </p:sp>
      <p:sp>
        <p:nvSpPr>
          <p:cNvPr id="25" name="Shape 20"/>
          <p:cNvSpPr/>
          <p:nvPr/>
        </p:nvSpPr>
        <p:spPr>
          <a:xfrm>
            <a:off x="7397496" y="1005840"/>
            <a:ext cx="731520" cy="731520"/>
          </a:xfrm>
          <a:prstGeom prst="ellipse">
            <a:avLst/>
          </a:prstGeom>
          <a:solidFill>
            <a:srgbClr val="BF360C"/>
          </a:solidFill>
        </p:spPr>
      </p:sp>
      <p:pic>
        <p:nvPicPr>
          <p:cNvPr id="26" name="Image 3" descr="preencoded.png"/>
          <p:cNvPicPr>
            <a:picLocks noChangeAspect="1"/>
          </p:cNvPicPr>
          <p:nvPr/>
        </p:nvPicPr>
        <p:blipFill>
          <a:blip r:embed="rId4"/>
          <a:stretch>
            <a:fillRect/>
          </a:stretch>
        </p:blipFill>
        <p:spPr>
          <a:xfrm>
            <a:off x="7461504" y="1069848"/>
            <a:ext cx="603504" cy="603504"/>
          </a:xfrm>
          <a:prstGeom prst="rect">
            <a:avLst/>
          </a:prstGeom>
        </p:spPr>
      </p:pic>
      <p:sp>
        <p:nvSpPr>
          <p:cNvPr id="27" name="Text 21"/>
          <p:cNvSpPr/>
          <p:nvPr/>
        </p:nvSpPr>
        <p:spPr>
          <a:xfrm>
            <a:off x="6848856" y="1920240"/>
            <a:ext cx="1828800" cy="411480"/>
          </a:xfrm>
          <a:prstGeom prst="rect">
            <a:avLst/>
          </a:prstGeom>
          <a:noFill/>
        </p:spPr>
        <p:txBody>
          <a:bodyPr wrap="square" lIns="0" tIns="0" rIns="0" bIns="0" rtlCol="0" anchor="ctr"/>
          <a:lstStyle/>
          <a:p>
            <a:pPr marL="0" indent="0" algn="ctr">
              <a:buNone/>
            </a:pPr>
            <a:r>
              <a:rPr lang="en-US" sz="1200" b="1" dirty="0">
                <a:solidFill>
                  <a:srgbClr val="FFFFFF"/>
                </a:solidFill>
              </a:rPr>
              <a:t>CCTV &amp; Surveillance</a:t>
            </a:r>
            <a:endParaRPr lang="en-US" sz="1200" dirty="0"/>
          </a:p>
        </p:txBody>
      </p:sp>
      <p:sp>
        <p:nvSpPr>
          <p:cNvPr id="28" name="Text 22"/>
          <p:cNvSpPr/>
          <p:nvPr/>
        </p:nvSpPr>
        <p:spPr>
          <a:xfrm>
            <a:off x="6894576" y="2423160"/>
            <a:ext cx="1737360" cy="2194560"/>
          </a:xfrm>
          <a:prstGeom prst="rect">
            <a:avLst/>
          </a:prstGeom>
          <a:noFill/>
        </p:spPr>
        <p:txBody>
          <a:bodyPr wrap="square" rtlCol="0" anchor="ctr"/>
          <a:lstStyle/>
          <a:p>
            <a:pPr marL="342900" indent="-342900">
              <a:buSzPct val="100000"/>
              <a:buChar char="•"/>
            </a:pPr>
            <a:r>
              <a:rPr lang="en-US" sz="1000" dirty="0">
                <a:solidFill>
                  <a:srgbClr val="BBDEFB"/>
                </a:solidFill>
              </a:rPr>
              <a:t>4K IP camera networks</a:t>
            </a:r>
            <a:endParaRPr lang="en-US" sz="1000" dirty="0"/>
          </a:p>
          <a:p>
            <a:pPr marL="342900" indent="-342900">
              <a:buSzPct val="100000"/>
              <a:buChar char="•"/>
            </a:pPr>
            <a:r>
              <a:rPr lang="en-US" sz="1000" dirty="0">
                <a:solidFill>
                  <a:srgbClr val="BBDEFB"/>
                </a:solidFill>
              </a:rPr>
              <a:t>360° coverage monitoring</a:t>
            </a:r>
            <a:endParaRPr lang="en-US" sz="1000" dirty="0"/>
          </a:p>
          <a:p>
            <a:pPr marL="342900" indent="-342900">
              <a:buSzPct val="100000"/>
              <a:buChar char="•"/>
            </a:pPr>
            <a:r>
              <a:rPr lang="en-US" sz="1000" dirty="0">
                <a:solidFill>
                  <a:srgbClr val="BBDEFB"/>
                </a:solidFill>
              </a:rPr>
              <a:t>Intelligent video analytics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C5E"/>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SECURITY DASHBOARD INSIGHTS</a:t>
            </a:r>
            <a:endParaRPr lang="en-US" sz="2200" dirty="0"/>
          </a:p>
        </p:txBody>
      </p:sp>
      <p:sp>
        <p:nvSpPr>
          <p:cNvPr id="5" name="Shape 3"/>
          <p:cNvSpPr/>
          <p:nvPr/>
        </p:nvSpPr>
        <p:spPr>
          <a:xfrm>
            <a:off x="228600" y="777240"/>
            <a:ext cx="2011680" cy="1005840"/>
          </a:xfrm>
          <a:prstGeom prst="rect">
            <a:avLst/>
          </a:prstGeom>
          <a:solidFill>
            <a:srgbClr val="1E6091"/>
          </a:solidFill>
        </p:spPr>
      </p:sp>
      <p:sp>
        <p:nvSpPr>
          <p:cNvPr id="6" name="Text 4"/>
          <p:cNvSpPr/>
          <p:nvPr/>
        </p:nvSpPr>
        <p:spPr>
          <a:xfrm>
            <a:off x="228600" y="841248"/>
            <a:ext cx="2011680" cy="438912"/>
          </a:xfrm>
          <a:prstGeom prst="rect">
            <a:avLst/>
          </a:prstGeom>
          <a:noFill/>
        </p:spPr>
        <p:txBody>
          <a:bodyPr wrap="square" lIns="0" tIns="0" rIns="0" bIns="0" rtlCol="0" anchor="ctr"/>
          <a:lstStyle/>
          <a:p>
            <a:pPr marL="0" indent="0" algn="ctr">
              <a:buNone/>
            </a:pPr>
            <a:r>
              <a:rPr lang="en-US" sz="2400" b="1" dirty="0">
                <a:solidFill>
                  <a:srgbClr val="FFFFFF"/>
                </a:solidFill>
              </a:rPr>
              <a:t>52M</a:t>
            </a:r>
            <a:endParaRPr lang="en-US" sz="2400" dirty="0"/>
          </a:p>
        </p:txBody>
      </p:sp>
      <p:sp>
        <p:nvSpPr>
          <p:cNvPr id="7" name="Text 5"/>
          <p:cNvSpPr/>
          <p:nvPr/>
        </p:nvSpPr>
        <p:spPr>
          <a:xfrm>
            <a:off x="228600" y="1298448"/>
            <a:ext cx="2011680" cy="228600"/>
          </a:xfrm>
          <a:prstGeom prst="rect">
            <a:avLst/>
          </a:prstGeom>
          <a:noFill/>
        </p:spPr>
        <p:txBody>
          <a:bodyPr wrap="square" lIns="0" tIns="0" rIns="0" bIns="0" rtlCol="0" anchor="ctr"/>
          <a:lstStyle/>
          <a:p>
            <a:pPr marL="0" indent="0" algn="ctr">
              <a:buNone/>
            </a:pPr>
            <a:r>
              <a:rPr lang="en-US" sz="1000" b="1" dirty="0">
                <a:solidFill>
                  <a:srgbClr val="FFFFFF"/>
                </a:solidFill>
              </a:rPr>
              <a:t>Total Cost (USD)</a:t>
            </a:r>
            <a:endParaRPr lang="en-US" sz="1000" dirty="0"/>
          </a:p>
        </p:txBody>
      </p:sp>
      <p:sp>
        <p:nvSpPr>
          <p:cNvPr id="8" name="Text 6"/>
          <p:cNvSpPr/>
          <p:nvPr/>
        </p:nvSpPr>
        <p:spPr>
          <a:xfrm>
            <a:off x="228600" y="1517904"/>
            <a:ext cx="2011680" cy="201168"/>
          </a:xfrm>
          <a:prstGeom prst="rect">
            <a:avLst/>
          </a:prstGeom>
          <a:noFill/>
        </p:spPr>
        <p:txBody>
          <a:bodyPr wrap="square" lIns="0" tIns="0" rIns="0" bIns="0" rtlCol="0" anchor="ctr"/>
          <a:lstStyle/>
          <a:p>
            <a:pPr marL="0" indent="0" algn="ctr">
              <a:buNone/>
            </a:pPr>
            <a:r>
              <a:rPr lang="en-US" sz="900" dirty="0">
                <a:solidFill>
                  <a:srgbClr val="E8EDF2"/>
                </a:solidFill>
              </a:rPr>
              <a:t>Security Operations</a:t>
            </a:r>
            <a:endParaRPr lang="en-US" sz="900" dirty="0"/>
          </a:p>
        </p:txBody>
      </p:sp>
      <p:sp>
        <p:nvSpPr>
          <p:cNvPr id="9" name="Shape 7"/>
          <p:cNvSpPr/>
          <p:nvPr/>
        </p:nvSpPr>
        <p:spPr>
          <a:xfrm>
            <a:off x="2404872" y="777240"/>
            <a:ext cx="2011680" cy="1005840"/>
          </a:xfrm>
          <a:prstGeom prst="rect">
            <a:avLst/>
          </a:prstGeom>
          <a:solidFill>
            <a:srgbClr val="C62828"/>
          </a:solidFill>
        </p:spPr>
      </p:sp>
      <p:sp>
        <p:nvSpPr>
          <p:cNvPr id="10" name="Text 8"/>
          <p:cNvSpPr/>
          <p:nvPr/>
        </p:nvSpPr>
        <p:spPr>
          <a:xfrm>
            <a:off x="2404872" y="841248"/>
            <a:ext cx="2011680" cy="438912"/>
          </a:xfrm>
          <a:prstGeom prst="rect">
            <a:avLst/>
          </a:prstGeom>
          <a:noFill/>
        </p:spPr>
        <p:txBody>
          <a:bodyPr wrap="square" lIns="0" tIns="0" rIns="0" bIns="0" rtlCol="0" anchor="ctr"/>
          <a:lstStyle/>
          <a:p>
            <a:pPr marL="0" indent="0" algn="ctr">
              <a:buNone/>
            </a:pPr>
            <a:r>
              <a:rPr lang="en-US" sz="2400" b="1" dirty="0">
                <a:solidFill>
                  <a:srgbClr val="FFFFFF"/>
                </a:solidFill>
              </a:rPr>
              <a:t>165</a:t>
            </a:r>
            <a:endParaRPr lang="en-US" sz="2400" dirty="0"/>
          </a:p>
        </p:txBody>
      </p:sp>
      <p:sp>
        <p:nvSpPr>
          <p:cNvPr id="11" name="Text 9"/>
          <p:cNvSpPr/>
          <p:nvPr/>
        </p:nvSpPr>
        <p:spPr>
          <a:xfrm>
            <a:off x="2404872" y="1298448"/>
            <a:ext cx="2011680" cy="228600"/>
          </a:xfrm>
          <a:prstGeom prst="rect">
            <a:avLst/>
          </a:prstGeom>
          <a:noFill/>
        </p:spPr>
        <p:txBody>
          <a:bodyPr wrap="square" lIns="0" tIns="0" rIns="0" bIns="0" rtlCol="0" anchor="ctr"/>
          <a:lstStyle/>
          <a:p>
            <a:pPr marL="0" indent="0" algn="ctr">
              <a:buNone/>
            </a:pPr>
            <a:r>
              <a:rPr lang="en-US" sz="1000" b="1" dirty="0">
                <a:solidFill>
                  <a:srgbClr val="FFFFFF"/>
                </a:solidFill>
              </a:rPr>
              <a:t>Security Breaches</a:t>
            </a:r>
            <a:endParaRPr lang="en-US" sz="1000" dirty="0"/>
          </a:p>
        </p:txBody>
      </p:sp>
      <p:sp>
        <p:nvSpPr>
          <p:cNvPr id="12" name="Text 10"/>
          <p:cNvSpPr/>
          <p:nvPr/>
        </p:nvSpPr>
        <p:spPr>
          <a:xfrm>
            <a:off x="2404872" y="1517904"/>
            <a:ext cx="2011680" cy="201168"/>
          </a:xfrm>
          <a:prstGeom prst="rect">
            <a:avLst/>
          </a:prstGeom>
          <a:noFill/>
        </p:spPr>
        <p:txBody>
          <a:bodyPr wrap="square" lIns="0" tIns="0" rIns="0" bIns="0" rtlCol="0" anchor="ctr"/>
          <a:lstStyle/>
          <a:p>
            <a:pPr marL="0" indent="0" algn="ctr">
              <a:buNone/>
            </a:pPr>
            <a:r>
              <a:rPr lang="en-US" sz="900" dirty="0">
                <a:solidFill>
                  <a:srgbClr val="E8EDF2"/>
                </a:solidFill>
              </a:rPr>
              <a:t>81.28% Resolved</a:t>
            </a:r>
            <a:endParaRPr lang="en-US" sz="900" dirty="0"/>
          </a:p>
        </p:txBody>
      </p:sp>
      <p:sp>
        <p:nvSpPr>
          <p:cNvPr id="13" name="Shape 11"/>
          <p:cNvSpPr/>
          <p:nvPr/>
        </p:nvSpPr>
        <p:spPr>
          <a:xfrm>
            <a:off x="4581144" y="777240"/>
            <a:ext cx="2011680" cy="1005840"/>
          </a:xfrm>
          <a:prstGeom prst="rect">
            <a:avLst/>
          </a:prstGeom>
          <a:solidFill>
            <a:srgbClr val="E65100"/>
          </a:solidFill>
        </p:spPr>
      </p:sp>
      <p:sp>
        <p:nvSpPr>
          <p:cNvPr id="14" name="Text 12"/>
          <p:cNvSpPr/>
          <p:nvPr/>
        </p:nvSpPr>
        <p:spPr>
          <a:xfrm>
            <a:off x="4581144" y="841248"/>
            <a:ext cx="2011680" cy="438912"/>
          </a:xfrm>
          <a:prstGeom prst="rect">
            <a:avLst/>
          </a:prstGeom>
          <a:noFill/>
        </p:spPr>
        <p:txBody>
          <a:bodyPr wrap="square" lIns="0" tIns="0" rIns="0" bIns="0" rtlCol="0" anchor="ctr"/>
          <a:lstStyle/>
          <a:p>
            <a:pPr marL="0" indent="0" algn="ctr">
              <a:buNone/>
            </a:pPr>
            <a:r>
              <a:rPr lang="en-US" sz="2400" b="1" dirty="0">
                <a:solidFill>
                  <a:srgbClr val="FFFFFF"/>
                </a:solidFill>
              </a:rPr>
              <a:t>38</a:t>
            </a:r>
            <a:endParaRPr lang="en-US" sz="2400" dirty="0"/>
          </a:p>
        </p:txBody>
      </p:sp>
      <p:sp>
        <p:nvSpPr>
          <p:cNvPr id="15" name="Text 13"/>
          <p:cNvSpPr/>
          <p:nvPr/>
        </p:nvSpPr>
        <p:spPr>
          <a:xfrm>
            <a:off x="4581144" y="1298448"/>
            <a:ext cx="2011680" cy="228600"/>
          </a:xfrm>
          <a:prstGeom prst="rect">
            <a:avLst/>
          </a:prstGeom>
          <a:noFill/>
        </p:spPr>
        <p:txBody>
          <a:bodyPr wrap="square" lIns="0" tIns="0" rIns="0" bIns="0" rtlCol="0" anchor="ctr"/>
          <a:lstStyle/>
          <a:p>
            <a:pPr marL="0" indent="0" algn="ctr">
              <a:buNone/>
            </a:pPr>
            <a:r>
              <a:rPr lang="en-US" sz="1000" b="1" dirty="0">
                <a:solidFill>
                  <a:srgbClr val="FFFFFF"/>
                </a:solidFill>
              </a:rPr>
              <a:t>Unresolved Cases</a:t>
            </a:r>
            <a:endParaRPr lang="en-US" sz="1000" dirty="0"/>
          </a:p>
        </p:txBody>
      </p:sp>
      <p:sp>
        <p:nvSpPr>
          <p:cNvPr id="16" name="Text 14"/>
          <p:cNvSpPr/>
          <p:nvPr/>
        </p:nvSpPr>
        <p:spPr>
          <a:xfrm>
            <a:off x="4581144" y="1517904"/>
            <a:ext cx="2011680" cy="201168"/>
          </a:xfrm>
          <a:prstGeom prst="rect">
            <a:avLst/>
          </a:prstGeom>
          <a:noFill/>
        </p:spPr>
        <p:txBody>
          <a:bodyPr wrap="square" lIns="0" tIns="0" rIns="0" bIns="0" rtlCol="0" anchor="ctr"/>
          <a:lstStyle/>
          <a:p>
            <a:pPr marL="0" indent="0" algn="ctr">
              <a:buNone/>
            </a:pPr>
            <a:r>
              <a:rPr lang="en-US" sz="900" dirty="0">
                <a:solidFill>
                  <a:srgbClr val="E8EDF2"/>
                </a:solidFill>
              </a:rPr>
              <a:t>18.72% Pending</a:t>
            </a:r>
            <a:endParaRPr lang="en-US" sz="900" dirty="0"/>
          </a:p>
        </p:txBody>
      </p:sp>
      <p:sp>
        <p:nvSpPr>
          <p:cNvPr id="17" name="Shape 15"/>
          <p:cNvSpPr/>
          <p:nvPr/>
        </p:nvSpPr>
        <p:spPr>
          <a:xfrm>
            <a:off x="6757416" y="777240"/>
            <a:ext cx="2011680" cy="1005840"/>
          </a:xfrm>
          <a:prstGeom prst="rect">
            <a:avLst/>
          </a:prstGeom>
          <a:solidFill>
            <a:srgbClr val="2E7D32"/>
          </a:solidFill>
        </p:spPr>
      </p:sp>
      <p:sp>
        <p:nvSpPr>
          <p:cNvPr id="18" name="Text 16"/>
          <p:cNvSpPr/>
          <p:nvPr/>
        </p:nvSpPr>
        <p:spPr>
          <a:xfrm>
            <a:off x="6757416" y="841248"/>
            <a:ext cx="2011680" cy="438912"/>
          </a:xfrm>
          <a:prstGeom prst="rect">
            <a:avLst/>
          </a:prstGeom>
          <a:noFill/>
        </p:spPr>
        <p:txBody>
          <a:bodyPr wrap="square" lIns="0" tIns="0" rIns="0" bIns="0" rtlCol="0" anchor="ctr"/>
          <a:lstStyle/>
          <a:p>
            <a:pPr marL="0" indent="0" algn="ctr">
              <a:buNone/>
            </a:pPr>
            <a:r>
              <a:rPr lang="en-US" sz="2400" b="1" dirty="0">
                <a:solidFill>
                  <a:srgbClr val="FFFFFF"/>
                </a:solidFill>
              </a:rPr>
              <a:t>67.48%</a:t>
            </a:r>
            <a:endParaRPr lang="en-US" sz="2400" dirty="0"/>
          </a:p>
        </p:txBody>
      </p:sp>
      <p:sp>
        <p:nvSpPr>
          <p:cNvPr id="19" name="Text 17"/>
          <p:cNvSpPr/>
          <p:nvPr/>
        </p:nvSpPr>
        <p:spPr>
          <a:xfrm>
            <a:off x="6757416" y="1298448"/>
            <a:ext cx="2011680" cy="228600"/>
          </a:xfrm>
          <a:prstGeom prst="rect">
            <a:avLst/>
          </a:prstGeom>
          <a:noFill/>
        </p:spPr>
        <p:txBody>
          <a:bodyPr wrap="square" lIns="0" tIns="0" rIns="0" bIns="0" rtlCol="0" anchor="ctr"/>
          <a:lstStyle/>
          <a:p>
            <a:pPr marL="0" indent="0" algn="ctr">
              <a:buNone/>
            </a:pPr>
            <a:r>
              <a:rPr lang="en-US" sz="1000" b="1" dirty="0">
                <a:solidFill>
                  <a:srgbClr val="FFFFFF"/>
                </a:solidFill>
              </a:rPr>
              <a:t>Nov Breaches</a:t>
            </a:r>
            <a:endParaRPr lang="en-US" sz="1000" dirty="0"/>
          </a:p>
        </p:txBody>
      </p:sp>
      <p:sp>
        <p:nvSpPr>
          <p:cNvPr id="20" name="Text 18"/>
          <p:cNvSpPr/>
          <p:nvPr/>
        </p:nvSpPr>
        <p:spPr>
          <a:xfrm>
            <a:off x="6757416" y="1517904"/>
            <a:ext cx="2011680" cy="201168"/>
          </a:xfrm>
          <a:prstGeom prst="rect">
            <a:avLst/>
          </a:prstGeom>
          <a:noFill/>
        </p:spPr>
        <p:txBody>
          <a:bodyPr wrap="square" lIns="0" tIns="0" rIns="0" bIns="0" rtlCol="0" anchor="ctr"/>
          <a:lstStyle/>
          <a:p>
            <a:pPr marL="0" indent="0" algn="ctr">
              <a:buNone/>
            </a:pPr>
            <a:r>
              <a:rPr lang="en-US" sz="900" dirty="0">
                <a:solidFill>
                  <a:srgbClr val="E8EDF2"/>
                </a:solidFill>
              </a:rPr>
              <a:t>Highest Monthly</a:t>
            </a:r>
            <a:endParaRPr lang="en-US" sz="900" dirty="0"/>
          </a:p>
        </p:txBody>
      </p:sp>
      <p:graphicFrame>
        <p:nvGraphicFramePr>
          <p:cNvPr id="21" name="Chart 0"/>
          <p:cNvGraphicFramePr/>
          <p:nvPr/>
        </p:nvGraphicFramePr>
        <p:xfrm>
          <a:off x="228600" y="1920240"/>
          <a:ext cx="5029200" cy="28346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2" name="Chart 1"/>
          <p:cNvGraphicFramePr/>
          <p:nvPr/>
        </p:nvGraphicFramePr>
        <p:xfrm>
          <a:off x="5394960" y="1920240"/>
          <a:ext cx="3474720" cy="283464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C2833"/>
          </a:solidFill>
        </p:spPr>
      </p:sp>
      <p:sp>
        <p:nvSpPr>
          <p:cNvPr id="3" name="Shape 1"/>
          <p:cNvSpPr/>
          <p:nvPr/>
        </p:nvSpPr>
        <p:spPr>
          <a:xfrm>
            <a:off x="0" y="640080"/>
            <a:ext cx="9144000" cy="36576"/>
          </a:xfrm>
          <a:prstGeom prst="rect">
            <a:avLst/>
          </a:prstGeom>
          <a:solidFill>
            <a:srgbClr val="E53935"/>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SECURITY CHALLENGES &amp; THREATS</a:t>
            </a:r>
            <a:endParaRPr lang="en-US" sz="2200" dirty="0"/>
          </a:p>
        </p:txBody>
      </p:sp>
      <p:pic>
        <p:nvPicPr>
          <p:cNvPr id="5" name="Image 0" descr="https://images.unsplash.com/photo-1551808525-51a94da548ce?w=700&amp;q=80"/>
          <p:cNvPicPr>
            <a:picLocks noChangeAspect="1"/>
          </p:cNvPicPr>
          <p:nvPr/>
        </p:nvPicPr>
        <p:blipFill>
          <a:blip r:embed="rId1"/>
          <a:srcRect/>
          <a:stretch>
            <a:fillRect/>
          </a:stretch>
        </p:blipFill>
        <p:spPr>
          <a:xfrm>
            <a:off x="5303520" y="777240"/>
            <a:ext cx="3566160" cy="4023360"/>
          </a:xfrm>
          <a:prstGeom prst="rect">
            <a:avLst/>
          </a:prstGeom>
        </p:spPr>
      </p:pic>
      <p:sp>
        <p:nvSpPr>
          <p:cNvPr id="6" name="Shape 3"/>
          <p:cNvSpPr/>
          <p:nvPr/>
        </p:nvSpPr>
        <p:spPr>
          <a:xfrm>
            <a:off x="5303520" y="777240"/>
            <a:ext cx="3566160" cy="4023360"/>
          </a:xfrm>
          <a:prstGeom prst="rect">
            <a:avLst/>
          </a:prstGeom>
          <a:solidFill>
            <a:srgbClr val="0D1B2A">
              <a:alpha val="45000"/>
            </a:srgbClr>
          </a:solidFill>
        </p:spPr>
      </p:sp>
      <p:sp>
        <p:nvSpPr>
          <p:cNvPr id="7" name="Shape 4"/>
          <p:cNvSpPr/>
          <p:nvPr/>
        </p:nvSpPr>
        <p:spPr>
          <a:xfrm>
            <a:off x="228600" y="868680"/>
            <a:ext cx="4846320" cy="640080"/>
          </a:xfrm>
          <a:prstGeom prst="rect">
            <a:avLst/>
          </a:prstGeom>
          <a:solidFill>
            <a:srgbClr val="1A1A2E"/>
          </a:solidFill>
          <a:effectLst>
            <a:outerShdw blurRad="50800" dist="25400" dir="8100000" algn="bl" rotWithShape="0">
              <a:srgbClr val="000000">
                <a:alpha val="25000"/>
              </a:srgbClr>
            </a:outerShdw>
          </a:effectLst>
        </p:spPr>
      </p:sp>
      <p:sp>
        <p:nvSpPr>
          <p:cNvPr id="8" name="Shape 5"/>
          <p:cNvSpPr/>
          <p:nvPr/>
        </p:nvSpPr>
        <p:spPr>
          <a:xfrm>
            <a:off x="228600" y="868680"/>
            <a:ext cx="64008" cy="640080"/>
          </a:xfrm>
          <a:prstGeom prst="rect">
            <a:avLst/>
          </a:prstGeom>
          <a:solidFill>
            <a:srgbClr val="E53935"/>
          </a:solidFill>
        </p:spPr>
      </p:sp>
      <p:pic>
        <p:nvPicPr>
          <p:cNvPr id="9" name="Image 1" descr="preencoded.png"/>
          <p:cNvPicPr>
            <a:picLocks noChangeAspect="1"/>
          </p:cNvPicPr>
          <p:nvPr/>
        </p:nvPicPr>
        <p:blipFill>
          <a:blip r:embed="rId2"/>
          <a:stretch>
            <a:fillRect/>
          </a:stretch>
        </p:blipFill>
        <p:spPr>
          <a:xfrm>
            <a:off x="384048" y="1005840"/>
            <a:ext cx="365760" cy="365760"/>
          </a:xfrm>
          <a:prstGeom prst="rect">
            <a:avLst/>
          </a:prstGeom>
        </p:spPr>
      </p:pic>
      <p:sp>
        <p:nvSpPr>
          <p:cNvPr id="10" name="Text 6"/>
          <p:cNvSpPr/>
          <p:nvPr/>
        </p:nvSpPr>
        <p:spPr>
          <a:xfrm>
            <a:off x="868680" y="941832"/>
            <a:ext cx="4114800" cy="256032"/>
          </a:xfrm>
          <a:prstGeom prst="rect">
            <a:avLst/>
          </a:prstGeom>
          <a:noFill/>
        </p:spPr>
        <p:txBody>
          <a:bodyPr wrap="square" lIns="0" tIns="0" rIns="0" bIns="0" rtlCol="0" anchor="ctr"/>
          <a:lstStyle/>
          <a:p>
            <a:pPr marL="0" indent="0">
              <a:buNone/>
            </a:pPr>
            <a:r>
              <a:rPr lang="en-US" sz="1200" b="1" dirty="0">
                <a:solidFill>
                  <a:srgbClr val="FFFFFF"/>
                </a:solidFill>
              </a:rPr>
              <a:t>Terrorism &amp; Explosives</a:t>
            </a:r>
            <a:endParaRPr lang="en-US" sz="1200" dirty="0"/>
          </a:p>
        </p:txBody>
      </p:sp>
      <p:sp>
        <p:nvSpPr>
          <p:cNvPr id="11" name="Text 7"/>
          <p:cNvSpPr/>
          <p:nvPr/>
        </p:nvSpPr>
        <p:spPr>
          <a:xfrm>
            <a:off x="868680" y="1197864"/>
            <a:ext cx="4114800" cy="256032"/>
          </a:xfrm>
          <a:prstGeom prst="rect">
            <a:avLst/>
          </a:prstGeom>
          <a:noFill/>
        </p:spPr>
        <p:txBody>
          <a:bodyPr wrap="square" lIns="0" tIns="0" rIns="0" bIns="0" rtlCol="0" anchor="ctr"/>
          <a:lstStyle/>
          <a:p>
            <a:pPr marL="0" indent="0">
              <a:buNone/>
            </a:pPr>
            <a:r>
              <a:rPr lang="en-US" sz="1000" dirty="0">
                <a:solidFill>
                  <a:srgbClr val="BBDEFB"/>
                </a:solidFill>
              </a:rPr>
              <a:t>Sophisticated concealment methods evade traditional screening</a:t>
            </a:r>
            <a:endParaRPr lang="en-US" sz="1000" dirty="0"/>
          </a:p>
        </p:txBody>
      </p:sp>
      <p:sp>
        <p:nvSpPr>
          <p:cNvPr id="12" name="Shape 8"/>
          <p:cNvSpPr/>
          <p:nvPr/>
        </p:nvSpPr>
        <p:spPr>
          <a:xfrm>
            <a:off x="228600" y="1618488"/>
            <a:ext cx="4846320" cy="640080"/>
          </a:xfrm>
          <a:prstGeom prst="rect">
            <a:avLst/>
          </a:prstGeom>
          <a:solidFill>
            <a:srgbClr val="1A1A2E"/>
          </a:solidFill>
          <a:effectLst>
            <a:outerShdw blurRad="50800" dist="25400" dir="8100000" algn="bl" rotWithShape="0">
              <a:srgbClr val="000000">
                <a:alpha val="25000"/>
              </a:srgbClr>
            </a:outerShdw>
          </a:effectLst>
        </p:spPr>
      </p:sp>
      <p:sp>
        <p:nvSpPr>
          <p:cNvPr id="13" name="Shape 9"/>
          <p:cNvSpPr/>
          <p:nvPr/>
        </p:nvSpPr>
        <p:spPr>
          <a:xfrm>
            <a:off x="228600" y="1618488"/>
            <a:ext cx="64008" cy="640080"/>
          </a:xfrm>
          <a:prstGeom prst="rect">
            <a:avLst/>
          </a:prstGeom>
          <a:solidFill>
            <a:srgbClr val="E53935"/>
          </a:solidFill>
        </p:spPr>
      </p:sp>
      <p:pic>
        <p:nvPicPr>
          <p:cNvPr id="14" name="Image 2" descr="preencoded.png"/>
          <p:cNvPicPr>
            <a:picLocks noChangeAspect="1"/>
          </p:cNvPicPr>
          <p:nvPr/>
        </p:nvPicPr>
        <p:blipFill>
          <a:blip r:embed="rId3"/>
          <a:stretch>
            <a:fillRect/>
          </a:stretch>
        </p:blipFill>
        <p:spPr>
          <a:xfrm>
            <a:off x="384048" y="1755648"/>
            <a:ext cx="365760" cy="365760"/>
          </a:xfrm>
          <a:prstGeom prst="rect">
            <a:avLst/>
          </a:prstGeom>
        </p:spPr>
      </p:pic>
      <p:sp>
        <p:nvSpPr>
          <p:cNvPr id="15" name="Text 10"/>
          <p:cNvSpPr/>
          <p:nvPr/>
        </p:nvSpPr>
        <p:spPr>
          <a:xfrm>
            <a:off x="868680" y="1691640"/>
            <a:ext cx="4114800" cy="256032"/>
          </a:xfrm>
          <a:prstGeom prst="rect">
            <a:avLst/>
          </a:prstGeom>
          <a:noFill/>
        </p:spPr>
        <p:txBody>
          <a:bodyPr wrap="square" lIns="0" tIns="0" rIns="0" bIns="0" rtlCol="0" anchor="ctr"/>
          <a:lstStyle/>
          <a:p>
            <a:pPr marL="0" indent="0">
              <a:buNone/>
            </a:pPr>
            <a:r>
              <a:rPr lang="en-US" sz="1200" b="1" dirty="0">
                <a:solidFill>
                  <a:srgbClr val="FFFFFF"/>
                </a:solidFill>
              </a:rPr>
              <a:t>Cybersecurity Attacks</a:t>
            </a:r>
            <a:endParaRPr lang="en-US" sz="1200" dirty="0"/>
          </a:p>
        </p:txBody>
      </p:sp>
      <p:sp>
        <p:nvSpPr>
          <p:cNvPr id="16" name="Text 11"/>
          <p:cNvSpPr/>
          <p:nvPr/>
        </p:nvSpPr>
        <p:spPr>
          <a:xfrm>
            <a:off x="868680" y="1947672"/>
            <a:ext cx="4114800" cy="256032"/>
          </a:xfrm>
          <a:prstGeom prst="rect">
            <a:avLst/>
          </a:prstGeom>
          <a:noFill/>
        </p:spPr>
        <p:txBody>
          <a:bodyPr wrap="square" lIns="0" tIns="0" rIns="0" bIns="0" rtlCol="0" anchor="ctr"/>
          <a:lstStyle/>
          <a:p>
            <a:pPr marL="0" indent="0">
              <a:buNone/>
            </a:pPr>
            <a:r>
              <a:rPr lang="en-US" sz="1000" dirty="0">
                <a:solidFill>
                  <a:srgbClr val="BBDEFB"/>
                </a:solidFill>
              </a:rPr>
              <a:t>Hacking of ATC, navigation &amp; passenger data systems</a:t>
            </a:r>
            <a:endParaRPr lang="en-US" sz="1000" dirty="0"/>
          </a:p>
        </p:txBody>
      </p:sp>
      <p:sp>
        <p:nvSpPr>
          <p:cNvPr id="17" name="Shape 12"/>
          <p:cNvSpPr/>
          <p:nvPr/>
        </p:nvSpPr>
        <p:spPr>
          <a:xfrm>
            <a:off x="228600" y="2368296"/>
            <a:ext cx="4846320" cy="640080"/>
          </a:xfrm>
          <a:prstGeom prst="rect">
            <a:avLst/>
          </a:prstGeom>
          <a:solidFill>
            <a:srgbClr val="1A1A2E"/>
          </a:solidFill>
          <a:effectLst>
            <a:outerShdw blurRad="50800" dist="25400" dir="8100000" algn="bl" rotWithShape="0">
              <a:srgbClr val="000000">
                <a:alpha val="25000"/>
              </a:srgbClr>
            </a:outerShdw>
          </a:effectLst>
        </p:spPr>
      </p:sp>
      <p:sp>
        <p:nvSpPr>
          <p:cNvPr id="18" name="Shape 13"/>
          <p:cNvSpPr/>
          <p:nvPr/>
        </p:nvSpPr>
        <p:spPr>
          <a:xfrm>
            <a:off x="228600" y="2368296"/>
            <a:ext cx="64008" cy="640080"/>
          </a:xfrm>
          <a:prstGeom prst="rect">
            <a:avLst/>
          </a:prstGeom>
          <a:solidFill>
            <a:srgbClr val="E53935"/>
          </a:solidFill>
        </p:spPr>
      </p:sp>
      <p:pic>
        <p:nvPicPr>
          <p:cNvPr id="19" name="Image 3" descr="preencoded.png"/>
          <p:cNvPicPr>
            <a:picLocks noChangeAspect="1"/>
          </p:cNvPicPr>
          <p:nvPr/>
        </p:nvPicPr>
        <p:blipFill>
          <a:blip r:embed="rId3"/>
          <a:stretch>
            <a:fillRect/>
          </a:stretch>
        </p:blipFill>
        <p:spPr>
          <a:xfrm>
            <a:off x="384048" y="2505456"/>
            <a:ext cx="365760" cy="365760"/>
          </a:xfrm>
          <a:prstGeom prst="rect">
            <a:avLst/>
          </a:prstGeom>
        </p:spPr>
      </p:pic>
      <p:sp>
        <p:nvSpPr>
          <p:cNvPr id="20" name="Text 14"/>
          <p:cNvSpPr/>
          <p:nvPr/>
        </p:nvSpPr>
        <p:spPr>
          <a:xfrm>
            <a:off x="868680" y="2441448"/>
            <a:ext cx="4114800" cy="256032"/>
          </a:xfrm>
          <a:prstGeom prst="rect">
            <a:avLst/>
          </a:prstGeom>
          <a:noFill/>
        </p:spPr>
        <p:txBody>
          <a:bodyPr wrap="square" lIns="0" tIns="0" rIns="0" bIns="0" rtlCol="0" anchor="ctr"/>
          <a:lstStyle/>
          <a:p>
            <a:pPr marL="0" indent="0">
              <a:buNone/>
            </a:pPr>
            <a:r>
              <a:rPr lang="en-US" sz="1200" b="1" dirty="0">
                <a:solidFill>
                  <a:srgbClr val="FFFFFF"/>
                </a:solidFill>
              </a:rPr>
              <a:t>Smuggling</a:t>
            </a:r>
            <a:endParaRPr lang="en-US" sz="1200" dirty="0"/>
          </a:p>
        </p:txBody>
      </p:sp>
      <p:sp>
        <p:nvSpPr>
          <p:cNvPr id="21" name="Text 15"/>
          <p:cNvSpPr/>
          <p:nvPr/>
        </p:nvSpPr>
        <p:spPr>
          <a:xfrm>
            <a:off x="868680" y="2697480"/>
            <a:ext cx="4114800" cy="256032"/>
          </a:xfrm>
          <a:prstGeom prst="rect">
            <a:avLst/>
          </a:prstGeom>
          <a:noFill/>
        </p:spPr>
        <p:txBody>
          <a:bodyPr wrap="square" lIns="0" tIns="0" rIns="0" bIns="0" rtlCol="0" anchor="ctr"/>
          <a:lstStyle/>
          <a:p>
            <a:pPr marL="0" indent="0">
              <a:buNone/>
            </a:pPr>
            <a:r>
              <a:rPr lang="en-US" sz="1000" dirty="0">
                <a:solidFill>
                  <a:srgbClr val="BBDEFB"/>
                </a:solidFill>
              </a:rPr>
              <a:t>Narcotics, weapons &amp; contraband concealed in cargo</a:t>
            </a:r>
            <a:endParaRPr lang="en-US" sz="1000" dirty="0"/>
          </a:p>
        </p:txBody>
      </p:sp>
      <p:sp>
        <p:nvSpPr>
          <p:cNvPr id="22" name="Shape 16"/>
          <p:cNvSpPr/>
          <p:nvPr/>
        </p:nvSpPr>
        <p:spPr>
          <a:xfrm>
            <a:off x="228600" y="3118104"/>
            <a:ext cx="4846320" cy="640080"/>
          </a:xfrm>
          <a:prstGeom prst="rect">
            <a:avLst/>
          </a:prstGeom>
          <a:solidFill>
            <a:srgbClr val="1A1A2E"/>
          </a:solidFill>
          <a:effectLst>
            <a:outerShdw blurRad="50800" dist="25400" dir="8100000" algn="bl" rotWithShape="0">
              <a:srgbClr val="000000">
                <a:alpha val="25000"/>
              </a:srgbClr>
            </a:outerShdw>
          </a:effectLst>
        </p:spPr>
      </p:sp>
      <p:sp>
        <p:nvSpPr>
          <p:cNvPr id="23" name="Shape 17"/>
          <p:cNvSpPr/>
          <p:nvPr/>
        </p:nvSpPr>
        <p:spPr>
          <a:xfrm>
            <a:off x="228600" y="3118104"/>
            <a:ext cx="64008" cy="640080"/>
          </a:xfrm>
          <a:prstGeom prst="rect">
            <a:avLst/>
          </a:prstGeom>
          <a:solidFill>
            <a:srgbClr val="E53935"/>
          </a:solidFill>
        </p:spPr>
      </p:sp>
      <p:pic>
        <p:nvPicPr>
          <p:cNvPr id="24" name="Image 4" descr="preencoded.png"/>
          <p:cNvPicPr>
            <a:picLocks noChangeAspect="1"/>
          </p:cNvPicPr>
          <p:nvPr/>
        </p:nvPicPr>
        <p:blipFill>
          <a:blip r:embed="rId4"/>
          <a:stretch>
            <a:fillRect/>
          </a:stretch>
        </p:blipFill>
        <p:spPr>
          <a:xfrm>
            <a:off x="384048" y="3255264"/>
            <a:ext cx="365760" cy="365760"/>
          </a:xfrm>
          <a:prstGeom prst="rect">
            <a:avLst/>
          </a:prstGeom>
        </p:spPr>
      </p:pic>
      <p:sp>
        <p:nvSpPr>
          <p:cNvPr id="25" name="Text 18"/>
          <p:cNvSpPr/>
          <p:nvPr/>
        </p:nvSpPr>
        <p:spPr>
          <a:xfrm>
            <a:off x="868680" y="3191256"/>
            <a:ext cx="4114800" cy="256032"/>
          </a:xfrm>
          <a:prstGeom prst="rect">
            <a:avLst/>
          </a:prstGeom>
          <a:noFill/>
        </p:spPr>
        <p:txBody>
          <a:bodyPr wrap="square" lIns="0" tIns="0" rIns="0" bIns="0" rtlCol="0" anchor="ctr"/>
          <a:lstStyle/>
          <a:p>
            <a:pPr marL="0" indent="0">
              <a:buNone/>
            </a:pPr>
            <a:r>
              <a:rPr lang="en-US" sz="1200" b="1" dirty="0">
                <a:solidFill>
                  <a:srgbClr val="FFFFFF"/>
                </a:solidFill>
              </a:rPr>
              <a:t>Insider Threats</a:t>
            </a:r>
            <a:endParaRPr lang="en-US" sz="1200" dirty="0"/>
          </a:p>
        </p:txBody>
      </p:sp>
      <p:sp>
        <p:nvSpPr>
          <p:cNvPr id="26" name="Text 19"/>
          <p:cNvSpPr/>
          <p:nvPr/>
        </p:nvSpPr>
        <p:spPr>
          <a:xfrm>
            <a:off x="868680" y="3447288"/>
            <a:ext cx="4114800" cy="256032"/>
          </a:xfrm>
          <a:prstGeom prst="rect">
            <a:avLst/>
          </a:prstGeom>
          <a:noFill/>
        </p:spPr>
        <p:txBody>
          <a:bodyPr wrap="square" lIns="0" tIns="0" rIns="0" bIns="0" rtlCol="0" anchor="ctr"/>
          <a:lstStyle/>
          <a:p>
            <a:pPr marL="0" indent="0">
              <a:buNone/>
            </a:pPr>
            <a:r>
              <a:rPr lang="en-US" sz="1000" dirty="0">
                <a:solidFill>
                  <a:srgbClr val="BBDEFB"/>
                </a:solidFill>
              </a:rPr>
              <a:t>Airport/airline staff with security access exploitation</a:t>
            </a:r>
            <a:endParaRPr lang="en-US" sz="1000" dirty="0"/>
          </a:p>
        </p:txBody>
      </p:sp>
      <p:sp>
        <p:nvSpPr>
          <p:cNvPr id="27" name="Shape 20"/>
          <p:cNvSpPr/>
          <p:nvPr/>
        </p:nvSpPr>
        <p:spPr>
          <a:xfrm>
            <a:off x="228600" y="3867912"/>
            <a:ext cx="4846320" cy="640080"/>
          </a:xfrm>
          <a:prstGeom prst="rect">
            <a:avLst/>
          </a:prstGeom>
          <a:solidFill>
            <a:srgbClr val="1A1A2E"/>
          </a:solidFill>
          <a:effectLst>
            <a:outerShdw blurRad="50800" dist="25400" dir="8100000" algn="bl" rotWithShape="0">
              <a:srgbClr val="000000">
                <a:alpha val="25000"/>
              </a:srgbClr>
            </a:outerShdw>
          </a:effectLst>
        </p:spPr>
      </p:sp>
      <p:sp>
        <p:nvSpPr>
          <p:cNvPr id="28" name="Shape 21"/>
          <p:cNvSpPr/>
          <p:nvPr/>
        </p:nvSpPr>
        <p:spPr>
          <a:xfrm>
            <a:off x="228600" y="3867912"/>
            <a:ext cx="64008" cy="640080"/>
          </a:xfrm>
          <a:prstGeom prst="rect">
            <a:avLst/>
          </a:prstGeom>
          <a:solidFill>
            <a:srgbClr val="E53935"/>
          </a:solidFill>
        </p:spPr>
      </p:sp>
      <p:pic>
        <p:nvPicPr>
          <p:cNvPr id="29" name="Image 5" descr="preencoded.png"/>
          <p:cNvPicPr>
            <a:picLocks noChangeAspect="1"/>
          </p:cNvPicPr>
          <p:nvPr/>
        </p:nvPicPr>
        <p:blipFill>
          <a:blip r:embed="rId5"/>
          <a:stretch>
            <a:fillRect/>
          </a:stretch>
        </p:blipFill>
        <p:spPr>
          <a:xfrm>
            <a:off x="384048" y="4005072"/>
            <a:ext cx="365760" cy="365760"/>
          </a:xfrm>
          <a:prstGeom prst="rect">
            <a:avLst/>
          </a:prstGeom>
        </p:spPr>
      </p:pic>
      <p:sp>
        <p:nvSpPr>
          <p:cNvPr id="30" name="Text 22"/>
          <p:cNvSpPr/>
          <p:nvPr/>
        </p:nvSpPr>
        <p:spPr>
          <a:xfrm>
            <a:off x="868680" y="3941064"/>
            <a:ext cx="4114800" cy="256032"/>
          </a:xfrm>
          <a:prstGeom prst="rect">
            <a:avLst/>
          </a:prstGeom>
          <a:noFill/>
        </p:spPr>
        <p:txBody>
          <a:bodyPr wrap="square" lIns="0" tIns="0" rIns="0" bIns="0" rtlCol="0" anchor="ctr"/>
          <a:lstStyle/>
          <a:p>
            <a:pPr marL="0" indent="0">
              <a:buNone/>
            </a:pPr>
            <a:r>
              <a:rPr lang="en-US" sz="1200" b="1" dirty="0">
                <a:solidFill>
                  <a:srgbClr val="FFFFFF"/>
                </a:solidFill>
              </a:rPr>
              <a:t>Drone Intrusions</a:t>
            </a:r>
            <a:endParaRPr lang="en-US" sz="1200" dirty="0"/>
          </a:p>
        </p:txBody>
      </p:sp>
      <p:sp>
        <p:nvSpPr>
          <p:cNvPr id="31" name="Text 23"/>
          <p:cNvSpPr/>
          <p:nvPr/>
        </p:nvSpPr>
        <p:spPr>
          <a:xfrm>
            <a:off x="868680" y="4197096"/>
            <a:ext cx="4114800" cy="256032"/>
          </a:xfrm>
          <a:prstGeom prst="rect">
            <a:avLst/>
          </a:prstGeom>
          <a:noFill/>
        </p:spPr>
        <p:txBody>
          <a:bodyPr wrap="square" lIns="0" tIns="0" rIns="0" bIns="0" rtlCol="0" anchor="ctr"/>
          <a:lstStyle/>
          <a:p>
            <a:pPr marL="0" indent="0">
              <a:buNone/>
            </a:pPr>
            <a:r>
              <a:rPr lang="en-US" sz="1000" dirty="0">
                <a:solidFill>
                  <a:srgbClr val="BBDEFB"/>
                </a:solidFill>
              </a:rPr>
              <a:t>Unauthorized UAVs disrupting airspace near airports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C5E"/>
          </a:solidFill>
        </p:spPr>
      </p:sp>
      <p:sp>
        <p:nvSpPr>
          <p:cNvPr id="3" name="Shape 1"/>
          <p:cNvSpPr/>
          <p:nvPr/>
        </p:nvSpPr>
        <p:spPr>
          <a:xfrm>
            <a:off x="0" y="640080"/>
            <a:ext cx="9144000" cy="36576"/>
          </a:xfrm>
          <a:prstGeom prst="rect">
            <a:avLst/>
          </a:prstGeom>
          <a:solidFill>
            <a:srgbClr val="2196F3"/>
          </a:solidFill>
        </p:spPr>
      </p:sp>
      <p:sp>
        <p:nvSpPr>
          <p:cNvPr id="4" name="Text 2"/>
          <p:cNvSpPr/>
          <p:nvPr/>
        </p:nvSpPr>
        <p:spPr>
          <a:xfrm>
            <a:off x="365760" y="91440"/>
            <a:ext cx="8229600" cy="457200"/>
          </a:xfrm>
          <a:prstGeom prst="rect">
            <a:avLst/>
          </a:prstGeom>
          <a:noFill/>
        </p:spPr>
        <p:txBody>
          <a:bodyPr wrap="square" lIns="0" tIns="0" rIns="0" bIns="0" rtlCol="0" anchor="ctr"/>
          <a:lstStyle/>
          <a:p>
            <a:pPr marL="0" indent="0">
              <a:buNone/>
            </a:pPr>
            <a:r>
              <a:rPr lang="en-US" sz="2200" b="1" dirty="0">
                <a:solidFill>
                  <a:srgbClr val="FFFFFF"/>
                </a:solidFill>
              </a:rPr>
              <a:t>THE FUTURE OF AIRLINE SECURITY</a:t>
            </a:r>
            <a:endParaRPr lang="en-US" sz="2200" dirty="0"/>
          </a:p>
        </p:txBody>
      </p:sp>
      <p:pic>
        <p:nvPicPr>
          <p:cNvPr id="5" name="Image 0" descr="https://images.unsplash.com/photo-1535957998253-26ae1ef29506?w=700&amp;q=80"/>
          <p:cNvPicPr>
            <a:picLocks noChangeAspect="1"/>
          </p:cNvPicPr>
          <p:nvPr/>
        </p:nvPicPr>
        <p:blipFill>
          <a:blip r:embed="rId1"/>
          <a:srcRect/>
          <a:stretch>
            <a:fillRect/>
          </a:stretch>
        </p:blipFill>
        <p:spPr>
          <a:xfrm>
            <a:off x="5212080" y="777240"/>
            <a:ext cx="3657600" cy="2286000"/>
          </a:xfrm>
          <a:prstGeom prst="rect">
            <a:avLst/>
          </a:prstGeom>
        </p:spPr>
      </p:pic>
      <p:sp>
        <p:nvSpPr>
          <p:cNvPr id="6" name="Shape 3"/>
          <p:cNvSpPr/>
          <p:nvPr/>
        </p:nvSpPr>
        <p:spPr>
          <a:xfrm>
            <a:off x="228600" y="868680"/>
            <a:ext cx="777240" cy="640080"/>
          </a:xfrm>
          <a:prstGeom prst="rect">
            <a:avLst/>
          </a:prstGeom>
          <a:solidFill>
            <a:srgbClr val="2196F3"/>
          </a:solidFill>
        </p:spPr>
      </p:sp>
      <p:sp>
        <p:nvSpPr>
          <p:cNvPr id="7" name="Text 4"/>
          <p:cNvSpPr/>
          <p:nvPr/>
        </p:nvSpPr>
        <p:spPr>
          <a:xfrm>
            <a:off x="228600" y="1005840"/>
            <a:ext cx="777240" cy="365760"/>
          </a:xfrm>
          <a:prstGeom prst="rect">
            <a:avLst/>
          </a:prstGeom>
          <a:noFill/>
        </p:spPr>
        <p:txBody>
          <a:bodyPr wrap="square" lIns="0" tIns="0" rIns="0" bIns="0" rtlCol="0" anchor="ctr"/>
          <a:lstStyle/>
          <a:p>
            <a:pPr marL="0" indent="0" algn="ctr">
              <a:buNone/>
            </a:pPr>
            <a:r>
              <a:rPr lang="en-US" sz="1100" b="1" dirty="0">
                <a:solidFill>
                  <a:srgbClr val="FFFFFF"/>
                </a:solidFill>
              </a:rPr>
              <a:t>2025</a:t>
            </a:r>
            <a:endParaRPr lang="en-US" sz="1100" dirty="0"/>
          </a:p>
        </p:txBody>
      </p:sp>
      <p:sp>
        <p:nvSpPr>
          <p:cNvPr id="8" name="Shape 5"/>
          <p:cNvSpPr/>
          <p:nvPr/>
        </p:nvSpPr>
        <p:spPr>
          <a:xfrm>
            <a:off x="1097280" y="868680"/>
            <a:ext cx="3931920" cy="640080"/>
          </a:xfrm>
          <a:prstGeom prst="rect">
            <a:avLst/>
          </a:prstGeom>
          <a:solidFill>
            <a:srgbClr val="FFFFFF"/>
          </a:solidFill>
          <a:effectLst>
            <a:outerShdw blurRad="50800" dist="25400" dir="8100000" algn="bl" rotWithShape="0">
              <a:srgbClr val="000000">
                <a:alpha val="10000"/>
              </a:srgbClr>
            </a:outerShdw>
          </a:effectLst>
        </p:spPr>
      </p:sp>
      <p:sp>
        <p:nvSpPr>
          <p:cNvPr id="9" name="Text 6"/>
          <p:cNvSpPr/>
          <p:nvPr/>
        </p:nvSpPr>
        <p:spPr>
          <a:xfrm>
            <a:off x="1188720" y="923544"/>
            <a:ext cx="3749040" cy="256032"/>
          </a:xfrm>
          <a:prstGeom prst="rect">
            <a:avLst/>
          </a:prstGeom>
          <a:noFill/>
        </p:spPr>
        <p:txBody>
          <a:bodyPr wrap="square" lIns="0" tIns="0" rIns="0" bIns="0" rtlCol="0" anchor="ctr"/>
          <a:lstStyle/>
          <a:p>
            <a:pPr marL="0" indent="0">
              <a:buNone/>
            </a:pPr>
            <a:r>
              <a:rPr lang="en-US" sz="1200" b="1" dirty="0">
                <a:solidFill>
                  <a:srgbClr val="2D3748"/>
                </a:solidFill>
              </a:rPr>
              <a:t>AI-Powered Screening</a:t>
            </a:r>
            <a:endParaRPr lang="en-US" sz="1200" dirty="0"/>
          </a:p>
        </p:txBody>
      </p:sp>
      <p:sp>
        <p:nvSpPr>
          <p:cNvPr id="10" name="Text 7"/>
          <p:cNvSpPr/>
          <p:nvPr/>
        </p:nvSpPr>
        <p:spPr>
          <a:xfrm>
            <a:off x="1188720" y="1197864"/>
            <a:ext cx="3749040" cy="256032"/>
          </a:xfrm>
          <a:prstGeom prst="rect">
            <a:avLst/>
          </a:prstGeom>
          <a:noFill/>
        </p:spPr>
        <p:txBody>
          <a:bodyPr wrap="square" lIns="0" tIns="0" rIns="0" bIns="0" rtlCol="0" anchor="ctr"/>
          <a:lstStyle/>
          <a:p>
            <a:pPr marL="0" indent="0">
              <a:buNone/>
            </a:pPr>
            <a:r>
              <a:rPr lang="en-US" sz="1000" dirty="0">
                <a:solidFill>
                  <a:srgbClr val="8899AA"/>
                </a:solidFill>
              </a:rPr>
              <a:t>Fully automated threat detection with &lt;1% false-positive rate</a:t>
            </a:r>
            <a:endParaRPr lang="en-US" sz="1000" dirty="0"/>
          </a:p>
        </p:txBody>
      </p:sp>
      <p:sp>
        <p:nvSpPr>
          <p:cNvPr id="11" name="Shape 8"/>
          <p:cNvSpPr/>
          <p:nvPr/>
        </p:nvSpPr>
        <p:spPr>
          <a:xfrm>
            <a:off x="530352" y="1508760"/>
            <a:ext cx="45720" cy="365760"/>
          </a:xfrm>
          <a:prstGeom prst="rect">
            <a:avLst/>
          </a:prstGeom>
          <a:solidFill>
            <a:srgbClr val="2196F3"/>
          </a:solidFill>
        </p:spPr>
      </p:sp>
      <p:sp>
        <p:nvSpPr>
          <p:cNvPr id="12" name="Shape 9"/>
          <p:cNvSpPr/>
          <p:nvPr/>
        </p:nvSpPr>
        <p:spPr>
          <a:xfrm>
            <a:off x="228600" y="1874520"/>
            <a:ext cx="777240" cy="640080"/>
          </a:xfrm>
          <a:prstGeom prst="rect">
            <a:avLst/>
          </a:prstGeom>
          <a:solidFill>
            <a:srgbClr val="2196F3"/>
          </a:solidFill>
        </p:spPr>
      </p:sp>
      <p:sp>
        <p:nvSpPr>
          <p:cNvPr id="13" name="Text 10"/>
          <p:cNvSpPr/>
          <p:nvPr/>
        </p:nvSpPr>
        <p:spPr>
          <a:xfrm>
            <a:off x="228600" y="2011680"/>
            <a:ext cx="777240" cy="365760"/>
          </a:xfrm>
          <a:prstGeom prst="rect">
            <a:avLst/>
          </a:prstGeom>
          <a:noFill/>
        </p:spPr>
        <p:txBody>
          <a:bodyPr wrap="square" lIns="0" tIns="0" rIns="0" bIns="0" rtlCol="0" anchor="ctr"/>
          <a:lstStyle/>
          <a:p>
            <a:pPr marL="0" indent="0" algn="ctr">
              <a:buNone/>
            </a:pPr>
            <a:r>
              <a:rPr lang="en-US" sz="1100" b="1" dirty="0">
                <a:solidFill>
                  <a:srgbClr val="FFFFFF"/>
                </a:solidFill>
              </a:rPr>
              <a:t>2027</a:t>
            </a:r>
            <a:endParaRPr lang="en-US" sz="1100" dirty="0"/>
          </a:p>
        </p:txBody>
      </p:sp>
      <p:sp>
        <p:nvSpPr>
          <p:cNvPr id="14" name="Shape 11"/>
          <p:cNvSpPr/>
          <p:nvPr/>
        </p:nvSpPr>
        <p:spPr>
          <a:xfrm>
            <a:off x="1097280" y="1874520"/>
            <a:ext cx="3931920" cy="640080"/>
          </a:xfrm>
          <a:prstGeom prst="rect">
            <a:avLst/>
          </a:prstGeom>
          <a:solidFill>
            <a:srgbClr val="FFFFFF"/>
          </a:solidFill>
          <a:effectLst>
            <a:outerShdw blurRad="50800" dist="25400" dir="8100000" algn="bl" rotWithShape="0">
              <a:srgbClr val="000000">
                <a:alpha val="10000"/>
              </a:srgbClr>
            </a:outerShdw>
          </a:effectLst>
        </p:spPr>
      </p:sp>
      <p:sp>
        <p:nvSpPr>
          <p:cNvPr id="15" name="Text 12"/>
          <p:cNvSpPr/>
          <p:nvPr/>
        </p:nvSpPr>
        <p:spPr>
          <a:xfrm>
            <a:off x="1188720" y="1929384"/>
            <a:ext cx="3749040" cy="256032"/>
          </a:xfrm>
          <a:prstGeom prst="rect">
            <a:avLst/>
          </a:prstGeom>
          <a:noFill/>
        </p:spPr>
        <p:txBody>
          <a:bodyPr wrap="square" lIns="0" tIns="0" rIns="0" bIns="0" rtlCol="0" anchor="ctr"/>
          <a:lstStyle/>
          <a:p>
            <a:pPr marL="0" indent="0">
              <a:buNone/>
            </a:pPr>
            <a:r>
              <a:rPr lang="en-US" sz="1200" b="1" dirty="0">
                <a:solidFill>
                  <a:srgbClr val="2D3748"/>
                </a:solidFill>
              </a:rPr>
              <a:t>Frictionless Biometrics</a:t>
            </a:r>
            <a:endParaRPr lang="en-US" sz="1200" dirty="0"/>
          </a:p>
        </p:txBody>
      </p:sp>
      <p:sp>
        <p:nvSpPr>
          <p:cNvPr id="16" name="Text 13"/>
          <p:cNvSpPr/>
          <p:nvPr/>
        </p:nvSpPr>
        <p:spPr>
          <a:xfrm>
            <a:off x="1188720" y="2203704"/>
            <a:ext cx="3749040" cy="256032"/>
          </a:xfrm>
          <a:prstGeom prst="rect">
            <a:avLst/>
          </a:prstGeom>
          <a:noFill/>
        </p:spPr>
        <p:txBody>
          <a:bodyPr wrap="square" lIns="0" tIns="0" rIns="0" bIns="0" rtlCol="0" anchor="ctr"/>
          <a:lstStyle/>
          <a:p>
            <a:pPr marL="0" indent="0">
              <a:buNone/>
            </a:pPr>
            <a:r>
              <a:rPr lang="en-US" sz="1000" dirty="0">
                <a:solidFill>
                  <a:srgbClr val="8899AA"/>
                </a:solidFill>
              </a:rPr>
              <a:t>Walk-through biometric corridors replacing manual checks</a:t>
            </a:r>
            <a:endParaRPr lang="en-US" sz="1000" dirty="0"/>
          </a:p>
        </p:txBody>
      </p:sp>
      <p:sp>
        <p:nvSpPr>
          <p:cNvPr id="17" name="Shape 14"/>
          <p:cNvSpPr/>
          <p:nvPr/>
        </p:nvSpPr>
        <p:spPr>
          <a:xfrm>
            <a:off x="530352" y="2514600"/>
            <a:ext cx="45720" cy="365760"/>
          </a:xfrm>
          <a:prstGeom prst="rect">
            <a:avLst/>
          </a:prstGeom>
          <a:solidFill>
            <a:srgbClr val="2196F3"/>
          </a:solidFill>
        </p:spPr>
      </p:sp>
      <p:sp>
        <p:nvSpPr>
          <p:cNvPr id="18" name="Shape 15"/>
          <p:cNvSpPr/>
          <p:nvPr/>
        </p:nvSpPr>
        <p:spPr>
          <a:xfrm>
            <a:off x="228600" y="2880360"/>
            <a:ext cx="777240" cy="640080"/>
          </a:xfrm>
          <a:prstGeom prst="rect">
            <a:avLst/>
          </a:prstGeom>
          <a:solidFill>
            <a:srgbClr val="2196F3"/>
          </a:solidFill>
        </p:spPr>
      </p:sp>
      <p:sp>
        <p:nvSpPr>
          <p:cNvPr id="19" name="Text 16"/>
          <p:cNvSpPr/>
          <p:nvPr/>
        </p:nvSpPr>
        <p:spPr>
          <a:xfrm>
            <a:off x="228600" y="3017520"/>
            <a:ext cx="777240" cy="365760"/>
          </a:xfrm>
          <a:prstGeom prst="rect">
            <a:avLst/>
          </a:prstGeom>
          <a:noFill/>
        </p:spPr>
        <p:txBody>
          <a:bodyPr wrap="square" lIns="0" tIns="0" rIns="0" bIns="0" rtlCol="0" anchor="ctr"/>
          <a:lstStyle/>
          <a:p>
            <a:pPr marL="0" indent="0" algn="ctr">
              <a:buNone/>
            </a:pPr>
            <a:r>
              <a:rPr lang="en-US" sz="1100" b="1" dirty="0">
                <a:solidFill>
                  <a:srgbClr val="FFFFFF"/>
                </a:solidFill>
              </a:rPr>
              <a:t>2029</a:t>
            </a:r>
            <a:endParaRPr lang="en-US" sz="1100" dirty="0"/>
          </a:p>
        </p:txBody>
      </p:sp>
      <p:sp>
        <p:nvSpPr>
          <p:cNvPr id="20" name="Shape 17"/>
          <p:cNvSpPr/>
          <p:nvPr/>
        </p:nvSpPr>
        <p:spPr>
          <a:xfrm>
            <a:off x="1097280" y="2880360"/>
            <a:ext cx="3931920" cy="640080"/>
          </a:xfrm>
          <a:prstGeom prst="rect">
            <a:avLst/>
          </a:prstGeom>
          <a:solidFill>
            <a:srgbClr val="FFFFFF"/>
          </a:solidFill>
          <a:effectLst>
            <a:outerShdw blurRad="50800" dist="25400" dir="8100000" algn="bl" rotWithShape="0">
              <a:srgbClr val="000000">
                <a:alpha val="10000"/>
              </a:srgbClr>
            </a:outerShdw>
          </a:effectLst>
        </p:spPr>
      </p:sp>
      <p:sp>
        <p:nvSpPr>
          <p:cNvPr id="21" name="Text 18"/>
          <p:cNvSpPr/>
          <p:nvPr/>
        </p:nvSpPr>
        <p:spPr>
          <a:xfrm>
            <a:off x="1188720" y="2935224"/>
            <a:ext cx="3749040" cy="256032"/>
          </a:xfrm>
          <a:prstGeom prst="rect">
            <a:avLst/>
          </a:prstGeom>
          <a:noFill/>
        </p:spPr>
        <p:txBody>
          <a:bodyPr wrap="square" lIns="0" tIns="0" rIns="0" bIns="0" rtlCol="0" anchor="ctr"/>
          <a:lstStyle/>
          <a:p>
            <a:pPr marL="0" indent="0">
              <a:buNone/>
            </a:pPr>
            <a:r>
              <a:rPr lang="en-US" sz="1200" b="1" dirty="0">
                <a:solidFill>
                  <a:srgbClr val="2D3748"/>
                </a:solidFill>
              </a:rPr>
              <a:t>Quantum Encryption</a:t>
            </a:r>
            <a:endParaRPr lang="en-US" sz="1200" dirty="0"/>
          </a:p>
        </p:txBody>
      </p:sp>
      <p:sp>
        <p:nvSpPr>
          <p:cNvPr id="22" name="Text 19"/>
          <p:cNvSpPr/>
          <p:nvPr/>
        </p:nvSpPr>
        <p:spPr>
          <a:xfrm>
            <a:off x="1188720" y="3209544"/>
            <a:ext cx="3749040" cy="256032"/>
          </a:xfrm>
          <a:prstGeom prst="rect">
            <a:avLst/>
          </a:prstGeom>
          <a:noFill/>
        </p:spPr>
        <p:txBody>
          <a:bodyPr wrap="square" lIns="0" tIns="0" rIns="0" bIns="0" rtlCol="0" anchor="ctr"/>
          <a:lstStyle/>
          <a:p>
            <a:pPr marL="0" indent="0">
              <a:buNone/>
            </a:pPr>
            <a:r>
              <a:rPr lang="en-US" sz="1000" dirty="0">
                <a:solidFill>
                  <a:srgbClr val="8899AA"/>
                </a:solidFill>
              </a:rPr>
              <a:t>Unbreakable communications for ATC and border systems</a:t>
            </a:r>
            <a:endParaRPr lang="en-US" sz="1000" dirty="0"/>
          </a:p>
        </p:txBody>
      </p:sp>
      <p:sp>
        <p:nvSpPr>
          <p:cNvPr id="23" name="Shape 20"/>
          <p:cNvSpPr/>
          <p:nvPr/>
        </p:nvSpPr>
        <p:spPr>
          <a:xfrm>
            <a:off x="530352" y="3520440"/>
            <a:ext cx="45720" cy="365760"/>
          </a:xfrm>
          <a:prstGeom prst="rect">
            <a:avLst/>
          </a:prstGeom>
          <a:solidFill>
            <a:srgbClr val="2196F3"/>
          </a:solidFill>
        </p:spPr>
      </p:sp>
      <p:sp>
        <p:nvSpPr>
          <p:cNvPr id="24" name="Shape 21"/>
          <p:cNvSpPr/>
          <p:nvPr/>
        </p:nvSpPr>
        <p:spPr>
          <a:xfrm>
            <a:off x="228600" y="3886200"/>
            <a:ext cx="777240" cy="640080"/>
          </a:xfrm>
          <a:prstGeom prst="rect">
            <a:avLst/>
          </a:prstGeom>
          <a:solidFill>
            <a:srgbClr val="2196F3"/>
          </a:solidFill>
        </p:spPr>
      </p:sp>
      <p:sp>
        <p:nvSpPr>
          <p:cNvPr id="25" name="Text 22"/>
          <p:cNvSpPr/>
          <p:nvPr/>
        </p:nvSpPr>
        <p:spPr>
          <a:xfrm>
            <a:off x="228600" y="4023360"/>
            <a:ext cx="777240" cy="365760"/>
          </a:xfrm>
          <a:prstGeom prst="rect">
            <a:avLst/>
          </a:prstGeom>
          <a:noFill/>
        </p:spPr>
        <p:txBody>
          <a:bodyPr wrap="square" lIns="0" tIns="0" rIns="0" bIns="0" rtlCol="0" anchor="ctr"/>
          <a:lstStyle/>
          <a:p>
            <a:pPr marL="0" indent="0" algn="ctr">
              <a:buNone/>
            </a:pPr>
            <a:r>
              <a:rPr lang="en-US" sz="1100" b="1" dirty="0">
                <a:solidFill>
                  <a:srgbClr val="FFFFFF"/>
                </a:solidFill>
              </a:rPr>
              <a:t>2030+</a:t>
            </a:r>
            <a:endParaRPr lang="en-US" sz="1100" dirty="0"/>
          </a:p>
        </p:txBody>
      </p:sp>
      <p:sp>
        <p:nvSpPr>
          <p:cNvPr id="26" name="Shape 23"/>
          <p:cNvSpPr/>
          <p:nvPr/>
        </p:nvSpPr>
        <p:spPr>
          <a:xfrm>
            <a:off x="1097280" y="3886200"/>
            <a:ext cx="3931920" cy="640080"/>
          </a:xfrm>
          <a:prstGeom prst="rect">
            <a:avLst/>
          </a:prstGeom>
          <a:solidFill>
            <a:srgbClr val="FFFFFF"/>
          </a:solidFill>
          <a:effectLst>
            <a:outerShdw blurRad="50800" dist="25400" dir="8100000" algn="bl" rotWithShape="0">
              <a:srgbClr val="000000">
                <a:alpha val="10000"/>
              </a:srgbClr>
            </a:outerShdw>
          </a:effectLst>
        </p:spPr>
      </p:sp>
      <p:sp>
        <p:nvSpPr>
          <p:cNvPr id="27" name="Text 24"/>
          <p:cNvSpPr/>
          <p:nvPr/>
        </p:nvSpPr>
        <p:spPr>
          <a:xfrm>
            <a:off x="1188720" y="3941064"/>
            <a:ext cx="3749040" cy="256032"/>
          </a:xfrm>
          <a:prstGeom prst="rect">
            <a:avLst/>
          </a:prstGeom>
          <a:noFill/>
        </p:spPr>
        <p:txBody>
          <a:bodyPr wrap="square" lIns="0" tIns="0" rIns="0" bIns="0" rtlCol="0" anchor="ctr"/>
          <a:lstStyle/>
          <a:p>
            <a:pPr marL="0" indent="0">
              <a:buNone/>
            </a:pPr>
            <a:r>
              <a:rPr lang="en-US" sz="1200" b="1" dirty="0">
                <a:solidFill>
                  <a:srgbClr val="2D3748"/>
                </a:solidFill>
              </a:rPr>
              <a:t>Smart Airport Ecosystem</a:t>
            </a:r>
            <a:endParaRPr lang="en-US" sz="1200" dirty="0"/>
          </a:p>
        </p:txBody>
      </p:sp>
      <p:sp>
        <p:nvSpPr>
          <p:cNvPr id="28" name="Text 25"/>
          <p:cNvSpPr/>
          <p:nvPr/>
        </p:nvSpPr>
        <p:spPr>
          <a:xfrm>
            <a:off x="1188720" y="4215384"/>
            <a:ext cx="3749040" cy="256032"/>
          </a:xfrm>
          <a:prstGeom prst="rect">
            <a:avLst/>
          </a:prstGeom>
          <a:noFill/>
        </p:spPr>
        <p:txBody>
          <a:bodyPr wrap="square" lIns="0" tIns="0" rIns="0" bIns="0" rtlCol="0" anchor="ctr"/>
          <a:lstStyle/>
          <a:p>
            <a:pPr marL="0" indent="0">
              <a:buNone/>
            </a:pPr>
            <a:r>
              <a:rPr lang="en-US" sz="1000" dirty="0">
                <a:solidFill>
                  <a:srgbClr val="8899AA"/>
                </a:solidFill>
              </a:rPr>
              <a:t>Fully integrated IoT sensors, drones, and AI guardians</a:t>
            </a:r>
            <a:endParaRPr lang="en-US" sz="1000" dirty="0"/>
          </a:p>
        </p:txBody>
      </p:sp>
      <p:sp>
        <p:nvSpPr>
          <p:cNvPr id="29" name="Shape 26"/>
          <p:cNvSpPr/>
          <p:nvPr/>
        </p:nvSpPr>
        <p:spPr>
          <a:xfrm>
            <a:off x="5212080" y="3200400"/>
            <a:ext cx="3657600" cy="1554480"/>
          </a:xfrm>
          <a:prstGeom prst="rect">
            <a:avLst/>
          </a:prstGeom>
          <a:solidFill>
            <a:srgbClr val="1A3C5E"/>
          </a:solidFill>
        </p:spPr>
      </p:sp>
      <p:sp>
        <p:nvSpPr>
          <p:cNvPr id="30" name="Text 27"/>
          <p:cNvSpPr/>
          <p:nvPr/>
        </p:nvSpPr>
        <p:spPr>
          <a:xfrm>
            <a:off x="5303520" y="3273552"/>
            <a:ext cx="3474720" cy="274320"/>
          </a:xfrm>
          <a:prstGeom prst="rect">
            <a:avLst/>
          </a:prstGeom>
          <a:noFill/>
        </p:spPr>
        <p:txBody>
          <a:bodyPr wrap="square" lIns="0" tIns="0" rIns="0" bIns="0" rtlCol="0" anchor="ctr"/>
          <a:lstStyle/>
          <a:p>
            <a:pPr marL="0" indent="0">
              <a:buNone/>
            </a:pPr>
            <a:r>
              <a:rPr lang="en-US" sz="1200" b="1" dirty="0">
                <a:solidFill>
                  <a:srgbClr val="FFFFFF"/>
                </a:solidFill>
              </a:rPr>
              <a:t>Key Investment Areas</a:t>
            </a:r>
            <a:endParaRPr lang="en-US" sz="1200" dirty="0"/>
          </a:p>
        </p:txBody>
      </p:sp>
      <p:sp>
        <p:nvSpPr>
          <p:cNvPr id="31" name="Text 28"/>
          <p:cNvSpPr/>
          <p:nvPr/>
        </p:nvSpPr>
        <p:spPr>
          <a:xfrm>
            <a:off x="5303520" y="3611880"/>
            <a:ext cx="3474720" cy="1051560"/>
          </a:xfrm>
          <a:prstGeom prst="rect">
            <a:avLst/>
          </a:prstGeom>
          <a:noFill/>
        </p:spPr>
        <p:txBody>
          <a:bodyPr wrap="square" rtlCol="0" anchor="ctr"/>
          <a:lstStyle/>
          <a:p>
            <a:pPr marL="342900" indent="-342900">
              <a:buSzPct val="100000"/>
              <a:buChar char="•"/>
            </a:pPr>
            <a:r>
              <a:rPr lang="en-US" sz="1000" dirty="0">
                <a:solidFill>
                  <a:srgbClr val="BBDEFB"/>
                </a:solidFill>
              </a:rPr>
              <a:t>AI &amp; Machine Learning: 45%</a:t>
            </a:r>
            <a:endParaRPr lang="en-US" sz="1000" dirty="0"/>
          </a:p>
          <a:p>
            <a:pPr marL="342900" indent="-342900">
              <a:buSzPct val="100000"/>
              <a:buChar char="•"/>
            </a:pPr>
            <a:r>
              <a:rPr lang="en-US" sz="1000" dirty="0">
                <a:solidFill>
                  <a:srgbClr val="BBDEFB"/>
                </a:solidFill>
              </a:rPr>
              <a:t>Biometric Infrastructure: 28%</a:t>
            </a:r>
            <a:endParaRPr lang="en-US" sz="1000" dirty="0"/>
          </a:p>
          <a:p>
            <a:pPr marL="342900" indent="-342900">
              <a:buSzPct val="100000"/>
              <a:buChar char="•"/>
            </a:pPr>
            <a:r>
              <a:rPr lang="en-US" sz="1000" dirty="0">
                <a:solidFill>
                  <a:srgbClr val="BBDEFB"/>
                </a:solidFill>
              </a:rPr>
              <a:t>Cybersecurity: 18%</a:t>
            </a:r>
            <a:endParaRPr lang="en-US" sz="1000" dirty="0"/>
          </a:p>
          <a:p>
            <a:pPr marL="342900" indent="-342900">
              <a:buSzPct val="100000"/>
              <a:buChar char="•"/>
            </a:pPr>
            <a:r>
              <a:rPr lang="en-US" sz="1000" dirty="0">
                <a:solidFill>
                  <a:srgbClr val="BBDEFB"/>
                </a:solidFill>
              </a:rPr>
              <a:t>Training &amp; Human Capital: 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pic>
        <p:nvPicPr>
          <p:cNvPr id="2" name="Image 0" descr="https://images.unsplash.com/photo-1436491865332-7a61a109cc05?w=1200&amp;q=80"/>
          <p:cNvPicPr>
            <a:picLocks noChangeAspect="1"/>
          </p:cNvPicPr>
          <p:nvPr/>
        </p:nvPicPr>
        <p:blipFill>
          <a:blip r:embed="rId1"/>
          <a:srcRect/>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D1B2A">
              <a:alpha val="75000"/>
            </a:srgbClr>
          </a:solidFill>
        </p:spPr>
      </p:sp>
      <p:sp>
        <p:nvSpPr>
          <p:cNvPr id="4" name="Shape 1"/>
          <p:cNvSpPr/>
          <p:nvPr/>
        </p:nvSpPr>
        <p:spPr>
          <a:xfrm>
            <a:off x="0" y="0"/>
            <a:ext cx="4754880" cy="5143500"/>
          </a:xfrm>
          <a:prstGeom prst="rect">
            <a:avLst/>
          </a:prstGeom>
          <a:solidFill>
            <a:srgbClr val="0D1B2A">
              <a:alpha val="90000"/>
            </a:srgbClr>
          </a:solidFill>
        </p:spPr>
      </p:sp>
      <p:sp>
        <p:nvSpPr>
          <p:cNvPr id="5" name="Shape 2"/>
          <p:cNvSpPr/>
          <p:nvPr/>
        </p:nvSpPr>
        <p:spPr>
          <a:xfrm>
            <a:off x="0" y="0"/>
            <a:ext cx="109728" cy="5143500"/>
          </a:xfrm>
          <a:prstGeom prst="rect">
            <a:avLst/>
          </a:prstGeom>
          <a:solidFill>
            <a:srgbClr val="2196F3"/>
          </a:solidFill>
        </p:spPr>
      </p:sp>
      <p:sp>
        <p:nvSpPr>
          <p:cNvPr id="6" name="Text 3"/>
          <p:cNvSpPr/>
          <p:nvPr/>
        </p:nvSpPr>
        <p:spPr>
          <a:xfrm>
            <a:off x="365760" y="457200"/>
            <a:ext cx="4114800" cy="457200"/>
          </a:xfrm>
          <a:prstGeom prst="rect">
            <a:avLst/>
          </a:prstGeom>
          <a:noFill/>
        </p:spPr>
        <p:txBody>
          <a:bodyPr wrap="square" lIns="0" tIns="0" rIns="0" bIns="0" rtlCol="0" anchor="ctr"/>
          <a:lstStyle/>
          <a:p>
            <a:pPr marL="0" indent="0">
              <a:buNone/>
            </a:pPr>
            <a:r>
              <a:rPr lang="en-US" sz="2800" b="1" dirty="0">
                <a:solidFill>
                  <a:srgbClr val="2196F3"/>
                </a:solidFill>
              </a:rPr>
              <a:t>CONCLUSION</a:t>
            </a:r>
            <a:endParaRPr lang="en-US" sz="2800" dirty="0"/>
          </a:p>
        </p:txBody>
      </p:sp>
      <p:sp>
        <p:nvSpPr>
          <p:cNvPr id="7" name="Shape 4"/>
          <p:cNvSpPr/>
          <p:nvPr/>
        </p:nvSpPr>
        <p:spPr>
          <a:xfrm>
            <a:off x="365760" y="960120"/>
            <a:ext cx="3200400" cy="36576"/>
          </a:xfrm>
          <a:prstGeom prst="rect">
            <a:avLst/>
          </a:prstGeom>
          <a:solidFill>
            <a:srgbClr val="2196F3"/>
          </a:solidFill>
        </p:spPr>
      </p:sp>
      <p:sp>
        <p:nvSpPr>
          <p:cNvPr id="8" name="Text 5"/>
          <p:cNvSpPr/>
          <p:nvPr/>
        </p:nvSpPr>
        <p:spPr>
          <a:xfrm>
            <a:off x="365760" y="1097280"/>
            <a:ext cx="4206240" cy="2926080"/>
          </a:xfrm>
          <a:prstGeom prst="rect">
            <a:avLst/>
          </a:prstGeom>
          <a:noFill/>
        </p:spPr>
        <p:txBody>
          <a:bodyPr wrap="square" rtlCol="0" anchor="ctr"/>
          <a:lstStyle/>
          <a:p>
            <a:pPr marL="342900" indent="-342900">
              <a:buSzPct val="100000"/>
              <a:buChar char="•"/>
            </a:pPr>
            <a:r>
              <a:rPr lang="en-US" sz="1200" dirty="0">
                <a:solidFill>
                  <a:srgbClr val="FFFFFF"/>
                </a:solidFill>
              </a:rPr>
              <a:t>Airline security is a multi-layered system essential to global safety</a:t>
            </a:r>
            <a:endParaRPr lang="en-US" sz="1200" dirty="0"/>
          </a:p>
          <a:p>
            <a:pPr marL="342900" indent="-342900">
              <a:buSzPct val="100000"/>
              <a:buChar char="•"/>
            </a:pPr>
            <a:r>
              <a:rPr lang="en-US" sz="1200" dirty="0">
                <a:solidFill>
                  <a:srgbClr val="FFFFFF"/>
                </a:solidFill>
              </a:rPr>
              <a:t>Modern AI &amp; biometrics are transforming traditional screening methods</a:t>
            </a:r>
            <a:endParaRPr lang="en-US" sz="1200" dirty="0"/>
          </a:p>
          <a:p>
            <a:pPr marL="342900" indent="-342900">
              <a:buSzPct val="100000"/>
              <a:buChar char="•"/>
            </a:pPr>
            <a:r>
              <a:rPr lang="en-US" sz="1200" dirty="0">
                <a:solidFill>
                  <a:srgbClr val="FFFFFF"/>
                </a:solidFill>
              </a:rPr>
              <a:t>Dashboard data shows 81% breach resolution — room for improvement</a:t>
            </a:r>
            <a:endParaRPr lang="en-US" sz="1200" dirty="0"/>
          </a:p>
          <a:p>
            <a:pPr marL="342900" indent="-342900">
              <a:buSzPct val="100000"/>
              <a:buChar char="•"/>
            </a:pPr>
            <a:r>
              <a:rPr lang="en-US" sz="1200" dirty="0">
                <a:solidFill>
                  <a:srgbClr val="FFFFFF"/>
                </a:solidFill>
              </a:rPr>
              <a:t>Cyber threats represent the fastest-growing security challenge</a:t>
            </a:r>
            <a:endParaRPr lang="en-US" sz="1200" dirty="0"/>
          </a:p>
          <a:p>
            <a:pPr marL="342900" indent="-342900">
              <a:buSzPct val="100000"/>
              <a:buChar char="•"/>
            </a:pPr>
            <a:r>
              <a:rPr lang="en-US" sz="1200" dirty="0">
                <a:solidFill>
                  <a:srgbClr val="FFFFFF"/>
                </a:solidFill>
              </a:rPr>
              <a:t>Future smart airports will offer frictionless yet ultra-secure travel</a:t>
            </a:r>
            <a:endParaRPr lang="en-US" sz="1200" dirty="0"/>
          </a:p>
        </p:txBody>
      </p:sp>
      <p:sp>
        <p:nvSpPr>
          <p:cNvPr id="10" name="Text 7"/>
          <p:cNvSpPr/>
          <p:nvPr/>
        </p:nvSpPr>
        <p:spPr>
          <a:xfrm>
            <a:off x="365760" y="4224528"/>
            <a:ext cx="4114800" cy="320040"/>
          </a:xfrm>
          <a:prstGeom prst="rect">
            <a:avLst/>
          </a:prstGeom>
          <a:noFill/>
        </p:spPr>
        <p:txBody>
          <a:bodyPr wrap="square" lIns="0" tIns="0" rIns="0" bIns="0" rtlCol="0" anchor="ctr"/>
          <a:lstStyle/>
          <a:p>
            <a:pPr marL="0" indent="0" algn="ctr">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4496</Words>
  <Application>WPS Presentation</Application>
  <PresentationFormat>On-screen Show (16:9)</PresentationFormat>
  <Paragraphs>285</Paragraphs>
  <Slides>11</Slides>
  <Notes>11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Security System</dc:title>
  <dc:creator>Memoona &amp; Uzaima</dc:creator>
  <dc:subject>PptxGenJS Presentation</dc:subject>
  <cp:lastModifiedBy>The City Store</cp:lastModifiedBy>
  <cp:revision>4</cp:revision>
  <dcterms:created xsi:type="dcterms:W3CDTF">2026-06-02T05:07:00Z</dcterms:created>
  <dcterms:modified xsi:type="dcterms:W3CDTF">2026-06-02T05:57:29Z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CA0AE5B45C774A47BF49793D6DB2A2DB_13</vt:lpwstr>
  </property>
  <property fmtid="{D5CDD505-2E9C-101B-9397-08002B2CF9AE}" pid="3" name="KSOProductBuildVer">
    <vt:lpwstr>1033-12.1.0.26372</vt:lpwstr>
  </property>
</Properties>
</file>